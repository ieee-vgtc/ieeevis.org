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8"/>
    <p:restoredTop sz="94610"/>
  </p:normalViewPr>
  <p:slideViewPr>
    <p:cSldViewPr snapToGrid="0" snapToObjects="1">
      <p:cViewPr>
        <p:scale>
          <a:sx n="101" d="100"/>
          <a:sy n="101" d="100"/>
        </p:scale>
        <p:origin x="331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4036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28016" cy="7772400"/>
          </a:xfrm>
          <a:prstGeom prst="rect">
            <a:avLst/>
          </a:prstGeom>
          <a:solidFill>
            <a:srgbClr val="C8407F"/>
          </a:solidFill>
          <a:ln/>
        </p:spPr>
        <p:txBody>
          <a:bodyPr/>
          <a:lstStyle/>
          <a:p>
            <a:endParaRPr lang="en-US"/>
          </a:p>
        </p:txBody>
      </p:sp>
      <p:sp>
        <p:nvSpPr>
          <p:cNvPr id="3" name="Shape 1"/>
          <p:cNvSpPr/>
          <p:nvPr/>
        </p:nvSpPr>
        <p:spPr>
          <a:xfrm>
            <a:off x="128016" y="0"/>
            <a:ext cx="38405" cy="7772400"/>
          </a:xfrm>
          <a:prstGeom prst="rect">
            <a:avLst/>
          </a:prstGeom>
          <a:solidFill>
            <a:srgbClr val="E8762C"/>
          </a:solidFill>
          <a:ln/>
        </p:spPr>
        <p:txBody>
          <a:bodyPr/>
          <a:lstStyle/>
          <a:p>
            <a:endParaRPr lang="en-US"/>
          </a:p>
        </p:txBody>
      </p:sp>
      <p:sp>
        <p:nvSpPr>
          <p:cNvPr id="4" name="Shape 2"/>
          <p:cNvSpPr/>
          <p:nvPr/>
        </p:nvSpPr>
        <p:spPr>
          <a:xfrm>
            <a:off x="1043970" y="1098834"/>
            <a:ext cx="143195" cy="143195"/>
          </a:xfrm>
          <a:prstGeom prst="ellipse">
            <a:avLst/>
          </a:prstGeom>
          <a:solidFill>
            <a:srgbClr val="E8762C"/>
          </a:solidFill>
          <a:ln/>
        </p:spPr>
        <p:txBody>
          <a:bodyPr/>
          <a:lstStyle/>
          <a:p>
            <a:endParaRPr lang="en-US"/>
          </a:p>
        </p:txBody>
      </p:sp>
      <p:sp>
        <p:nvSpPr>
          <p:cNvPr id="5" name="Shape 3"/>
          <p:cNvSpPr/>
          <p:nvPr/>
        </p:nvSpPr>
        <p:spPr>
          <a:xfrm>
            <a:off x="1242715" y="1125992"/>
            <a:ext cx="88880" cy="88880"/>
          </a:xfrm>
          <a:prstGeom prst="ellipse">
            <a:avLst/>
          </a:prstGeom>
          <a:solidFill>
            <a:srgbClr val="C8407F"/>
          </a:solidFill>
          <a:ln/>
        </p:spPr>
        <p:txBody>
          <a:bodyPr/>
          <a:lstStyle/>
          <a:p>
            <a:endParaRPr lang="en-US"/>
          </a:p>
        </p:txBody>
      </p:sp>
      <p:sp>
        <p:nvSpPr>
          <p:cNvPr id="6" name="Shape 4"/>
          <p:cNvSpPr/>
          <p:nvPr/>
        </p:nvSpPr>
        <p:spPr>
          <a:xfrm>
            <a:off x="1376035" y="1139571"/>
            <a:ext cx="61722" cy="61722"/>
          </a:xfrm>
          <a:prstGeom prst="ellipse">
            <a:avLst/>
          </a:prstGeom>
          <a:solidFill>
            <a:srgbClr val="E5A93D"/>
          </a:solidFill>
          <a:ln/>
        </p:spPr>
        <p:txBody>
          <a:bodyPr/>
          <a:lstStyle/>
          <a:p>
            <a:endParaRPr lang="en-US"/>
          </a:p>
        </p:txBody>
      </p:sp>
      <p:sp>
        <p:nvSpPr>
          <p:cNvPr id="7" name="Shape 5"/>
          <p:cNvSpPr/>
          <p:nvPr/>
        </p:nvSpPr>
        <p:spPr>
          <a:xfrm>
            <a:off x="1192459" y="1247323"/>
            <a:ext cx="88880" cy="88880"/>
          </a:xfrm>
          <a:prstGeom prst="ellipse">
            <a:avLst/>
          </a:prstGeom>
          <a:solidFill>
            <a:srgbClr val="E8762C"/>
          </a:solidFill>
          <a:ln/>
        </p:spPr>
        <p:txBody>
          <a:bodyPr/>
          <a:lstStyle/>
          <a:p>
            <a:endParaRPr lang="en-US"/>
          </a:p>
        </p:txBody>
      </p:sp>
      <p:sp>
        <p:nvSpPr>
          <p:cNvPr id="8" name="Shape 6"/>
          <p:cNvSpPr/>
          <p:nvPr/>
        </p:nvSpPr>
        <p:spPr>
          <a:xfrm>
            <a:off x="1290707" y="1345571"/>
            <a:ext cx="61722" cy="61722"/>
          </a:xfrm>
          <a:prstGeom prst="ellipse">
            <a:avLst/>
          </a:prstGeom>
          <a:solidFill>
            <a:srgbClr val="C8407F"/>
          </a:solidFill>
          <a:ln/>
        </p:spPr>
        <p:txBody>
          <a:bodyPr/>
          <a:lstStyle/>
          <a:p>
            <a:endParaRPr lang="en-US"/>
          </a:p>
        </p:txBody>
      </p:sp>
      <p:sp>
        <p:nvSpPr>
          <p:cNvPr id="9" name="Shape 7"/>
          <p:cNvSpPr/>
          <p:nvPr/>
        </p:nvSpPr>
        <p:spPr>
          <a:xfrm>
            <a:off x="1071128" y="1297579"/>
            <a:ext cx="88880" cy="88880"/>
          </a:xfrm>
          <a:prstGeom prst="ellipse">
            <a:avLst/>
          </a:prstGeom>
          <a:solidFill>
            <a:srgbClr val="E58AB4"/>
          </a:solidFill>
          <a:ln/>
        </p:spPr>
        <p:txBody>
          <a:bodyPr/>
          <a:lstStyle/>
          <a:p>
            <a:endParaRPr lang="en-US"/>
          </a:p>
        </p:txBody>
      </p:sp>
      <p:sp>
        <p:nvSpPr>
          <p:cNvPr id="10" name="Shape 8"/>
          <p:cNvSpPr/>
          <p:nvPr/>
        </p:nvSpPr>
        <p:spPr>
          <a:xfrm>
            <a:off x="1084707" y="1430899"/>
            <a:ext cx="61722" cy="61722"/>
          </a:xfrm>
          <a:prstGeom prst="ellipse">
            <a:avLst/>
          </a:prstGeom>
          <a:solidFill>
            <a:srgbClr val="E8762C"/>
          </a:solidFill>
          <a:ln/>
        </p:spPr>
        <p:txBody>
          <a:bodyPr/>
          <a:lstStyle/>
          <a:p>
            <a:endParaRPr lang="en-US"/>
          </a:p>
        </p:txBody>
      </p:sp>
      <p:sp>
        <p:nvSpPr>
          <p:cNvPr id="11" name="Shape 9"/>
          <p:cNvSpPr/>
          <p:nvPr/>
        </p:nvSpPr>
        <p:spPr>
          <a:xfrm>
            <a:off x="949798" y="1247323"/>
            <a:ext cx="88880" cy="88880"/>
          </a:xfrm>
          <a:prstGeom prst="ellipse">
            <a:avLst/>
          </a:prstGeom>
          <a:solidFill>
            <a:srgbClr val="E5A93D"/>
          </a:solidFill>
          <a:ln/>
        </p:spPr>
        <p:txBody>
          <a:bodyPr/>
          <a:lstStyle/>
          <a:p>
            <a:endParaRPr lang="en-US"/>
          </a:p>
        </p:txBody>
      </p:sp>
      <p:sp>
        <p:nvSpPr>
          <p:cNvPr id="12" name="Shape 10"/>
          <p:cNvSpPr/>
          <p:nvPr/>
        </p:nvSpPr>
        <p:spPr>
          <a:xfrm>
            <a:off x="878707" y="1345571"/>
            <a:ext cx="61722" cy="61722"/>
          </a:xfrm>
          <a:prstGeom prst="ellipse">
            <a:avLst/>
          </a:prstGeom>
          <a:solidFill>
            <a:srgbClr val="E58AB4"/>
          </a:solidFill>
          <a:ln/>
        </p:spPr>
        <p:txBody>
          <a:bodyPr/>
          <a:lstStyle/>
          <a:p>
            <a:endParaRPr lang="en-US"/>
          </a:p>
        </p:txBody>
      </p:sp>
      <p:sp>
        <p:nvSpPr>
          <p:cNvPr id="13" name="Shape 11"/>
          <p:cNvSpPr/>
          <p:nvPr/>
        </p:nvSpPr>
        <p:spPr>
          <a:xfrm>
            <a:off x="899541" y="1125992"/>
            <a:ext cx="88880" cy="88880"/>
          </a:xfrm>
          <a:prstGeom prst="ellipse">
            <a:avLst/>
          </a:prstGeom>
          <a:solidFill>
            <a:srgbClr val="C8407F"/>
          </a:solidFill>
          <a:ln/>
        </p:spPr>
        <p:txBody>
          <a:bodyPr/>
          <a:lstStyle/>
          <a:p>
            <a:endParaRPr lang="en-US"/>
          </a:p>
        </p:txBody>
      </p:sp>
      <p:sp>
        <p:nvSpPr>
          <p:cNvPr id="14" name="Shape 12"/>
          <p:cNvSpPr/>
          <p:nvPr/>
        </p:nvSpPr>
        <p:spPr>
          <a:xfrm>
            <a:off x="793379" y="1139571"/>
            <a:ext cx="61722" cy="61722"/>
          </a:xfrm>
          <a:prstGeom prst="ellipse">
            <a:avLst/>
          </a:prstGeom>
          <a:solidFill>
            <a:srgbClr val="E5A93D"/>
          </a:solidFill>
          <a:ln/>
        </p:spPr>
        <p:txBody>
          <a:bodyPr/>
          <a:lstStyle/>
          <a:p>
            <a:endParaRPr lang="en-US"/>
          </a:p>
        </p:txBody>
      </p:sp>
      <p:sp>
        <p:nvSpPr>
          <p:cNvPr id="15" name="Shape 13"/>
          <p:cNvSpPr/>
          <p:nvPr/>
        </p:nvSpPr>
        <p:spPr>
          <a:xfrm>
            <a:off x="949798" y="1004662"/>
            <a:ext cx="88880" cy="88880"/>
          </a:xfrm>
          <a:prstGeom prst="ellipse">
            <a:avLst/>
          </a:prstGeom>
          <a:solidFill>
            <a:srgbClr val="E8762C"/>
          </a:solidFill>
          <a:ln/>
        </p:spPr>
        <p:txBody>
          <a:bodyPr/>
          <a:lstStyle/>
          <a:p>
            <a:endParaRPr lang="en-US"/>
          </a:p>
        </p:txBody>
      </p:sp>
      <p:sp>
        <p:nvSpPr>
          <p:cNvPr id="16" name="Shape 14"/>
          <p:cNvSpPr/>
          <p:nvPr/>
        </p:nvSpPr>
        <p:spPr>
          <a:xfrm>
            <a:off x="878707" y="933571"/>
            <a:ext cx="61722" cy="61722"/>
          </a:xfrm>
          <a:prstGeom prst="ellipse">
            <a:avLst/>
          </a:prstGeom>
          <a:solidFill>
            <a:srgbClr val="C8407F"/>
          </a:solidFill>
          <a:ln/>
        </p:spPr>
        <p:txBody>
          <a:bodyPr/>
          <a:lstStyle/>
          <a:p>
            <a:endParaRPr lang="en-US"/>
          </a:p>
        </p:txBody>
      </p:sp>
      <p:sp>
        <p:nvSpPr>
          <p:cNvPr id="17" name="Shape 15"/>
          <p:cNvSpPr/>
          <p:nvPr/>
        </p:nvSpPr>
        <p:spPr>
          <a:xfrm>
            <a:off x="1071128" y="954405"/>
            <a:ext cx="88880" cy="88880"/>
          </a:xfrm>
          <a:prstGeom prst="ellipse">
            <a:avLst/>
          </a:prstGeom>
          <a:solidFill>
            <a:srgbClr val="E58AB4"/>
          </a:solidFill>
          <a:ln/>
        </p:spPr>
        <p:txBody>
          <a:bodyPr/>
          <a:lstStyle/>
          <a:p>
            <a:endParaRPr lang="en-US"/>
          </a:p>
        </p:txBody>
      </p:sp>
      <p:sp>
        <p:nvSpPr>
          <p:cNvPr id="18" name="Shape 16"/>
          <p:cNvSpPr/>
          <p:nvPr/>
        </p:nvSpPr>
        <p:spPr>
          <a:xfrm>
            <a:off x="1084707" y="848243"/>
            <a:ext cx="61722" cy="61722"/>
          </a:xfrm>
          <a:prstGeom prst="ellipse">
            <a:avLst/>
          </a:prstGeom>
          <a:solidFill>
            <a:srgbClr val="E8762C"/>
          </a:solidFill>
          <a:ln/>
        </p:spPr>
        <p:txBody>
          <a:bodyPr/>
          <a:lstStyle/>
          <a:p>
            <a:endParaRPr lang="en-US"/>
          </a:p>
        </p:txBody>
      </p:sp>
      <p:sp>
        <p:nvSpPr>
          <p:cNvPr id="19" name="Shape 17"/>
          <p:cNvSpPr/>
          <p:nvPr/>
        </p:nvSpPr>
        <p:spPr>
          <a:xfrm>
            <a:off x="1192459" y="1004662"/>
            <a:ext cx="88880" cy="88880"/>
          </a:xfrm>
          <a:prstGeom prst="ellipse">
            <a:avLst/>
          </a:prstGeom>
          <a:solidFill>
            <a:srgbClr val="E5A93D"/>
          </a:solidFill>
          <a:ln/>
        </p:spPr>
        <p:txBody>
          <a:bodyPr/>
          <a:lstStyle/>
          <a:p>
            <a:endParaRPr lang="en-US"/>
          </a:p>
        </p:txBody>
      </p:sp>
      <p:sp>
        <p:nvSpPr>
          <p:cNvPr id="20" name="Shape 18"/>
          <p:cNvSpPr/>
          <p:nvPr/>
        </p:nvSpPr>
        <p:spPr>
          <a:xfrm>
            <a:off x="1290707" y="933571"/>
            <a:ext cx="61722" cy="61722"/>
          </a:xfrm>
          <a:prstGeom prst="ellipse">
            <a:avLst/>
          </a:prstGeom>
          <a:solidFill>
            <a:srgbClr val="E58AB4"/>
          </a:solidFill>
          <a:ln/>
        </p:spPr>
        <p:txBody>
          <a:bodyPr/>
          <a:lstStyle/>
          <a:p>
            <a:endParaRPr lang="en-US"/>
          </a:p>
        </p:txBody>
      </p:sp>
      <p:sp>
        <p:nvSpPr>
          <p:cNvPr id="21" name="Text 19"/>
          <p:cNvSpPr/>
          <p:nvPr/>
        </p:nvSpPr>
        <p:spPr>
          <a:xfrm>
            <a:off x="1472184" y="841248"/>
            <a:ext cx="3108960" cy="685800"/>
          </a:xfrm>
          <a:prstGeom prst="rect">
            <a:avLst/>
          </a:prstGeom>
          <a:noFill/>
          <a:ln/>
        </p:spPr>
        <p:txBody>
          <a:bodyPr wrap="square" lIns="0" tIns="0" rIns="0" bIns="0" rtlCol="0" anchor="ctr"/>
          <a:lstStyle/>
          <a:p>
            <a:pPr marL="0" indent="0">
              <a:buNone/>
            </a:pPr>
            <a:r>
              <a:rPr lang="en-US" sz="4400" b="1" dirty="0">
                <a:solidFill>
                  <a:srgbClr val="C8407F"/>
                </a:solidFill>
                <a:latin typeface="Arial" pitchFamily="34" charset="0"/>
                <a:ea typeface="Arial" pitchFamily="34" charset="-122"/>
                <a:cs typeface="Arial" pitchFamily="34" charset="-120"/>
              </a:rPr>
              <a:t>VIS</a:t>
            </a:r>
            <a:r>
              <a:rPr lang="en-US" sz="4400" b="1" dirty="0">
                <a:solidFill>
                  <a:srgbClr val="E8762C"/>
                </a:solidFill>
                <a:latin typeface="Arial" pitchFamily="34" charset="0"/>
                <a:ea typeface="Arial" pitchFamily="34" charset="-122"/>
                <a:cs typeface="Arial" pitchFamily="34" charset="-120"/>
              </a:rPr>
              <a:t>2026</a:t>
            </a:r>
            <a:endParaRPr lang="en-US" sz="4400" dirty="0"/>
          </a:p>
        </p:txBody>
      </p:sp>
      <p:sp>
        <p:nvSpPr>
          <p:cNvPr id="22" name="Text 20"/>
          <p:cNvSpPr/>
          <p:nvPr/>
        </p:nvSpPr>
        <p:spPr>
          <a:xfrm>
            <a:off x="813816" y="1920240"/>
            <a:ext cx="4206240" cy="777240"/>
          </a:xfrm>
          <a:prstGeom prst="rect">
            <a:avLst/>
          </a:prstGeom>
          <a:noFill/>
          <a:ln/>
        </p:spPr>
        <p:txBody>
          <a:bodyPr wrap="square" lIns="0" tIns="0" rIns="0" bIns="0" rtlCol="0" anchor="ctr"/>
          <a:lstStyle/>
          <a:p>
            <a:pPr marL="0" indent="0">
              <a:buNone/>
            </a:pPr>
            <a:r>
              <a:rPr lang="en-US" sz="5200" b="1" dirty="0">
                <a:solidFill>
                  <a:srgbClr val="EAEFF6"/>
                </a:solidFill>
                <a:latin typeface="Arial" pitchFamily="34" charset="0"/>
                <a:ea typeface="Arial" pitchFamily="34" charset="-122"/>
                <a:cs typeface="Arial" pitchFamily="34" charset="-120"/>
              </a:rPr>
              <a:t>SUPPORTER</a:t>
            </a:r>
            <a:endParaRPr lang="en-US" sz="5200" dirty="0"/>
          </a:p>
        </p:txBody>
      </p:sp>
      <p:sp>
        <p:nvSpPr>
          <p:cNvPr id="23" name="Text 21"/>
          <p:cNvSpPr/>
          <p:nvPr/>
        </p:nvSpPr>
        <p:spPr>
          <a:xfrm>
            <a:off x="813815" y="2651760"/>
            <a:ext cx="4610427" cy="777240"/>
          </a:xfrm>
          <a:prstGeom prst="rect">
            <a:avLst/>
          </a:prstGeom>
          <a:noFill/>
          <a:ln/>
        </p:spPr>
        <p:txBody>
          <a:bodyPr wrap="square" lIns="0" tIns="0" rIns="0" bIns="0" rtlCol="0" anchor="ctr"/>
          <a:lstStyle/>
          <a:p>
            <a:pPr marL="0" indent="0">
              <a:buNone/>
            </a:pPr>
            <a:r>
              <a:rPr lang="en-US" sz="5200" b="1" dirty="0">
                <a:solidFill>
                  <a:srgbClr val="C8407F"/>
                </a:solidFill>
                <a:latin typeface="Arial" pitchFamily="34" charset="0"/>
                <a:ea typeface="Arial" pitchFamily="34" charset="-122"/>
                <a:cs typeface="Arial" pitchFamily="34" charset="-120"/>
              </a:rPr>
              <a:t>PROSPECTUS</a:t>
            </a:r>
            <a:endParaRPr lang="en-US" sz="5200" dirty="0"/>
          </a:p>
        </p:txBody>
      </p:sp>
      <p:sp>
        <p:nvSpPr>
          <p:cNvPr id="24" name="Shape 22"/>
          <p:cNvSpPr/>
          <p:nvPr/>
        </p:nvSpPr>
        <p:spPr>
          <a:xfrm>
            <a:off x="841248" y="3584448"/>
            <a:ext cx="2386584" cy="0"/>
          </a:xfrm>
          <a:prstGeom prst="line">
            <a:avLst/>
          </a:prstGeom>
          <a:noFill/>
          <a:ln w="38100">
            <a:solidFill>
              <a:srgbClr val="E8762C"/>
            </a:solidFill>
            <a:prstDash val="solid"/>
          </a:ln>
        </p:spPr>
        <p:txBody>
          <a:bodyPr/>
          <a:lstStyle/>
          <a:p>
            <a:endParaRPr lang="en-US"/>
          </a:p>
        </p:txBody>
      </p:sp>
      <p:sp>
        <p:nvSpPr>
          <p:cNvPr id="25" name="Text 23"/>
          <p:cNvSpPr/>
          <p:nvPr/>
        </p:nvSpPr>
        <p:spPr>
          <a:xfrm>
            <a:off x="813816" y="5349240"/>
            <a:ext cx="3291840" cy="1051560"/>
          </a:xfrm>
          <a:prstGeom prst="rect">
            <a:avLst/>
          </a:prstGeom>
          <a:noFill/>
          <a:ln/>
        </p:spPr>
        <p:txBody>
          <a:bodyPr wrap="square" lIns="0" tIns="0" rIns="0" bIns="0" rtlCol="0" anchor="t"/>
          <a:lstStyle/>
          <a:p>
            <a:pPr marL="0" indent="0">
              <a:lnSpc>
                <a:spcPct val="125000"/>
              </a:lnSpc>
              <a:buNone/>
            </a:pPr>
            <a:r>
              <a:rPr lang="en-US" sz="1700" b="1" dirty="0">
                <a:solidFill>
                  <a:srgbClr val="EAEFF6"/>
                </a:solidFill>
                <a:latin typeface="Arial" pitchFamily="34" charset="0"/>
                <a:ea typeface="Arial" pitchFamily="34" charset="-122"/>
                <a:cs typeface="Arial" pitchFamily="34" charset="-120"/>
              </a:rPr>
              <a:t>The Westin Copley Place</a:t>
            </a:r>
            <a:endParaRPr lang="en-US" sz="1700" dirty="0"/>
          </a:p>
          <a:p>
            <a:pPr marL="0" indent="0">
              <a:lnSpc>
                <a:spcPct val="125000"/>
              </a:lnSpc>
              <a:buNone/>
            </a:pPr>
            <a:r>
              <a:rPr lang="en-US" sz="1700" b="1" dirty="0">
                <a:solidFill>
                  <a:srgbClr val="EAEFF6"/>
                </a:solidFill>
                <a:latin typeface="Arial" pitchFamily="34" charset="0"/>
                <a:ea typeface="Arial" pitchFamily="34" charset="-122"/>
                <a:cs typeface="Arial" pitchFamily="34" charset="-120"/>
              </a:rPr>
              <a:t>Boston, MA</a:t>
            </a:r>
            <a:endParaRPr lang="en-US" sz="1700" dirty="0"/>
          </a:p>
          <a:p>
            <a:pPr marL="0" indent="0">
              <a:lnSpc>
                <a:spcPct val="125000"/>
              </a:lnSpc>
              <a:buNone/>
            </a:pPr>
            <a:r>
              <a:rPr lang="en-US" sz="1500" dirty="0">
                <a:solidFill>
                  <a:srgbClr val="9DAAC0"/>
                </a:solidFill>
                <a:latin typeface="Arial" pitchFamily="34" charset="0"/>
                <a:ea typeface="Arial" pitchFamily="34" charset="-122"/>
                <a:cs typeface="Arial" pitchFamily="34" charset="-120"/>
              </a:rPr>
              <a:t>November 9–13, 2026</a:t>
            </a:r>
            <a:endParaRPr lang="en-US" sz="1700" dirty="0"/>
          </a:p>
        </p:txBody>
      </p:sp>
      <p:pic>
        <p:nvPicPr>
          <p:cNvPr id="38" name="Image 0" descr="/mnt/user-data/uploads/cover.jpg"/>
          <p:cNvPicPr>
            <a:picLocks noChangeAspect="1"/>
          </p:cNvPicPr>
          <p:nvPr/>
        </p:nvPicPr>
        <p:blipFill>
          <a:blip r:embed="rId3"/>
          <a:srcRect/>
          <a:stretch/>
        </p:blipFill>
        <p:spPr>
          <a:xfrm>
            <a:off x="5632704" y="658368"/>
            <a:ext cx="3867912" cy="6455664"/>
          </a:xfrm>
          <a:prstGeom prst="rect">
            <a:avLst/>
          </a:prstGeom>
        </p:spPr>
      </p:pic>
      <p:sp>
        <p:nvSpPr>
          <p:cNvPr id="39" name="Shape 36"/>
          <p:cNvSpPr/>
          <p:nvPr/>
        </p:nvSpPr>
        <p:spPr>
          <a:xfrm>
            <a:off x="5632704" y="658368"/>
            <a:ext cx="3867912" cy="6455664"/>
          </a:xfrm>
          <a:prstGeom prst="roundRect">
            <a:avLst>
              <a:gd name="adj" fmla="val 473"/>
            </a:avLst>
          </a:prstGeom>
          <a:ln w="12700">
            <a:solidFill>
              <a:srgbClr val="38455E"/>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WELCOME</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1084478"/>
            <a:ext cx="5074920" cy="5791810"/>
          </a:xfrm>
          <a:prstGeom prst="rect">
            <a:avLst/>
          </a:prstGeom>
          <a:noFill/>
          <a:ln/>
        </p:spPr>
        <p:txBody>
          <a:bodyPr wrap="square" lIns="0" tIns="0" rIns="0" bIns="0" rtlCol="0" anchor="t"/>
          <a:lstStyle/>
          <a:p>
            <a:pPr marL="0" indent="0">
              <a:lnSpc>
                <a:spcPct val="112000"/>
              </a:lnSpc>
              <a:spcAft>
                <a:spcPts val="1000"/>
              </a:spcAft>
              <a:buNone/>
            </a:pPr>
            <a:r>
              <a:rPr lang="en-US" sz="1400" dirty="0">
                <a:solidFill>
                  <a:srgbClr val="9DAAC0"/>
                </a:solidFill>
                <a:latin typeface="Arial" pitchFamily="34" charset="0"/>
                <a:ea typeface="Arial" pitchFamily="34" charset="-122"/>
                <a:cs typeface="Arial" pitchFamily="34" charset="-120"/>
              </a:rPr>
              <a:t>IEEE VIS 2026 will be the year’s premier forum for advances in theory, methods, and applications of visualization and visual analytics. The conference will convene an international community of researchers and practitioners from universities, government, and industry to exchange recent findings on the design and use of visualization tools.</a:t>
            </a:r>
            <a:endParaRPr lang="en-US" sz="1400" dirty="0"/>
          </a:p>
          <a:p>
            <a:pPr marL="0" indent="0">
              <a:lnSpc>
                <a:spcPct val="112000"/>
              </a:lnSpc>
              <a:spcAft>
                <a:spcPts val="1000"/>
              </a:spcAft>
              <a:buNone/>
            </a:pPr>
            <a:r>
              <a:rPr lang="en-US" sz="1200" dirty="0">
                <a:solidFill>
                  <a:srgbClr val="9DAAC0"/>
                </a:solidFill>
                <a:latin typeface="Arial" pitchFamily="34" charset="0"/>
                <a:ea typeface="Arial" pitchFamily="34" charset="-122"/>
                <a:cs typeface="Arial" pitchFamily="34" charset="-120"/>
              </a:rPr>
              <a:t>In 2026, the conference returns to the United States, and we look forward to welcoming you to Boston, MA! Boston will be an especially exciting city to visit because 2026 marks the 250th anniversary of American independence—a milestone that the city helped spark through events like the Boston Tea Party. Today, Boston is a dynamic city, home to a rich ecosystem of world-class universities, vibrant tech and biotech companies, renowned cultural institutions, and world-champion sports teams. The conference will be hosted in the heart of the city: a beautiful tree- and brownstone-lined neighborhood called Back Bay. Walk to the magnificent Boston Public Library, Boston Symphony Orchestra, and Boston Museum of Fine Arts. Get some fresh air along the Charles River Esplanade or the Emerald Necklace—a chain of public parks that span the city. Hop on the T (our subway system) and reach MIT, Harvard, Tufts, UMass Boston, Boston College, and Northeastern University within minutes.</a:t>
            </a:r>
            <a:endParaRPr lang="en-US" sz="1400" dirty="0"/>
          </a:p>
          <a:p>
            <a:pPr marL="0" indent="0">
              <a:lnSpc>
                <a:spcPct val="112000"/>
              </a:lnSpc>
              <a:spcAft>
                <a:spcPts val="1400"/>
              </a:spcAft>
              <a:buNone/>
            </a:pPr>
            <a:r>
              <a:rPr lang="en-US" sz="1400" dirty="0">
                <a:solidFill>
                  <a:srgbClr val="9DAAC0"/>
                </a:solidFill>
                <a:latin typeface="Arial" pitchFamily="34" charset="0"/>
                <a:ea typeface="Arial" pitchFamily="34" charset="-122"/>
                <a:cs typeface="Arial" pitchFamily="34" charset="-120"/>
              </a:rPr>
              <a:t>Boston will provide an inspiring backdrop for reconnecting with colleagues, sharing new ideas, and shaping the future of visualization together.</a:t>
            </a:r>
            <a:endParaRPr lang="en-US" sz="1400" dirty="0"/>
          </a:p>
          <a:p>
            <a:pPr marL="0" indent="0">
              <a:lnSpc>
                <a:spcPct val="112000"/>
              </a:lnSpc>
              <a:buNone/>
            </a:pPr>
            <a:r>
              <a:rPr lang="en-US" sz="1200" b="1" i="1" dirty="0">
                <a:solidFill>
                  <a:srgbClr val="E58AB4"/>
                </a:solidFill>
                <a:latin typeface="Arial" pitchFamily="34" charset="0"/>
                <a:ea typeface="Arial" pitchFamily="34" charset="-122"/>
                <a:cs typeface="Arial" pitchFamily="34" charset="-120"/>
              </a:rPr>
              <a:t>VIS 2026 General Chairs</a:t>
            </a:r>
            <a:endParaRPr lang="en-US" sz="1400" dirty="0"/>
          </a:p>
        </p:txBody>
      </p:sp>
      <p:pic>
        <p:nvPicPr>
          <p:cNvPr id="10" name="Image 0" descr="/mnt/user-data/uploads/fig2.jpg"/>
          <p:cNvPicPr>
            <a:picLocks noChangeAspect="1"/>
          </p:cNvPicPr>
          <p:nvPr/>
        </p:nvPicPr>
        <p:blipFill>
          <a:blip r:embed="rId3"/>
          <a:srcRect/>
          <a:stretch/>
        </p:blipFill>
        <p:spPr>
          <a:xfrm>
            <a:off x="6035040" y="1051560"/>
            <a:ext cx="3465576" cy="5577840"/>
          </a:xfrm>
          <a:prstGeom prst="rect">
            <a:avLst/>
          </a:prstGeom>
        </p:spPr>
      </p:pic>
      <p:sp>
        <p:nvSpPr>
          <p:cNvPr id="11" name="Shape 8"/>
          <p:cNvSpPr/>
          <p:nvPr/>
        </p:nvSpPr>
        <p:spPr>
          <a:xfrm>
            <a:off x="6035040" y="1051560"/>
            <a:ext cx="3465576" cy="5577840"/>
          </a:xfrm>
          <a:prstGeom prst="roundRect">
            <a:avLst>
              <a:gd name="adj" fmla="val 528"/>
            </a:avLst>
          </a:prstGeom>
          <a:ln w="12700">
            <a:solidFill>
              <a:srgbClr val="38455E"/>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OPPORTUNITIES</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1047902"/>
            <a:ext cx="4672584" cy="420624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VIS 2026 is where top industry practitioners, researchers, and university students and researchers gather. </a:t>
            </a:r>
            <a:r>
              <a:rPr lang="en-US" sz="1100" b="1" dirty="0">
                <a:solidFill>
                  <a:srgbClr val="EAEFF6"/>
                </a:solidFill>
                <a:latin typeface="Arial" pitchFamily="34" charset="0"/>
                <a:ea typeface="Arial" pitchFamily="34" charset="-122"/>
                <a:cs typeface="Arial" pitchFamily="34" charset="-120"/>
              </a:rPr>
              <a:t>Support this community, and make your presence known!</a:t>
            </a:r>
            <a:endParaRPr lang="en-US" sz="1100" dirty="0"/>
          </a:p>
          <a:p>
            <a:pPr marL="0" indent="0">
              <a:lnSpc>
                <a:spcPct val="112000"/>
              </a:lnSpc>
              <a:buNone/>
            </a:pPr>
            <a:endParaRPr lang="en-US" sz="1100" dirty="0"/>
          </a:p>
          <a:p>
            <a:pPr marL="0" indent="0">
              <a:lnSpc>
                <a:spcPct val="112000"/>
              </a:lnSpc>
              <a:spcAft>
                <a:spcPts val="1000"/>
              </a:spcAft>
              <a:buNone/>
            </a:pPr>
            <a:r>
              <a:rPr lang="en-US" sz="1100" dirty="0">
                <a:solidFill>
                  <a:srgbClr val="9DAAC0"/>
                </a:solidFill>
                <a:latin typeface="Arial" pitchFamily="34" charset="0"/>
                <a:ea typeface="Arial" pitchFamily="34" charset="-122"/>
                <a:cs typeface="Arial" pitchFamily="34" charset="-120"/>
              </a:rPr>
              <a:t>VIS 2026 comprises a five-day program of workshops and tutorials, exposition, panels, posters, keynotes, and research presentations. The conference convenes a global community of over 1,000 researchers, students, and practitioners from universities, government, and industry with broad computing, design, mathematics, science, and more backgrounds. It is an ideal venue for recruiting skilled candidates and potential research collaborations.</a:t>
            </a:r>
            <a:endParaRPr lang="en-US" sz="1100" dirty="0"/>
          </a:p>
          <a:p>
            <a:pPr marL="0" indent="0">
              <a:lnSpc>
                <a:spcPct val="112000"/>
              </a:lnSpc>
              <a:spcAft>
                <a:spcPts val="800"/>
              </a:spcAft>
              <a:buNone/>
            </a:pPr>
            <a:r>
              <a:rPr lang="en-US" sz="1100" dirty="0">
                <a:solidFill>
                  <a:srgbClr val="9DAAC0"/>
                </a:solidFill>
                <a:latin typeface="Arial" pitchFamily="34" charset="0"/>
                <a:ea typeface="Arial" pitchFamily="34" charset="-122"/>
                <a:cs typeface="Arial" pitchFamily="34" charset="-120"/>
              </a:rPr>
              <a:t>We provide multiple opportunities to promote your involvement and engage with the community during the lead-up and the conference. This provides the perfect opportunity to</a:t>
            </a:r>
            <a:endParaRPr lang="en-US" sz="1100" dirty="0"/>
          </a:p>
          <a:p>
            <a:pPr marL="152400" indent="-152400">
              <a:lnSpc>
                <a:spcPct val="112000"/>
              </a:lnSpc>
              <a:spcAft>
                <a:spcPts val="400"/>
              </a:spcAft>
              <a:buSzPct val="100000"/>
              <a:buChar char="•"/>
            </a:pPr>
            <a:r>
              <a:rPr lang="en-US" sz="1100" dirty="0">
                <a:solidFill>
                  <a:srgbClr val="9DAAC0"/>
                </a:solidFill>
                <a:latin typeface="Arial" pitchFamily="34" charset="0"/>
                <a:ea typeface="Arial" pitchFamily="34" charset="-122"/>
                <a:cs typeface="Arial" pitchFamily="34" charset="-120"/>
              </a:rPr>
              <a:t>Gain visibility for your organization</a:t>
            </a:r>
            <a:endParaRPr lang="en-US" sz="1100" dirty="0"/>
          </a:p>
          <a:p>
            <a:pPr marL="152400" indent="-152400">
              <a:lnSpc>
                <a:spcPct val="112000"/>
              </a:lnSpc>
              <a:spcAft>
                <a:spcPts val="400"/>
              </a:spcAft>
              <a:buSzPct val="100000"/>
              <a:buChar char="•"/>
            </a:pPr>
            <a:r>
              <a:rPr lang="en-US" sz="1100" dirty="0">
                <a:solidFill>
                  <a:srgbClr val="9DAAC0"/>
                </a:solidFill>
                <a:latin typeface="Arial" pitchFamily="34" charset="0"/>
                <a:ea typeface="Arial" pitchFamily="34" charset="-122"/>
                <a:cs typeface="Arial" pitchFamily="34" charset="-120"/>
              </a:rPr>
              <a:t>Learn about trends and the latest advances in visualization</a:t>
            </a:r>
            <a:endParaRPr lang="en-US" sz="1100" dirty="0"/>
          </a:p>
          <a:p>
            <a:pPr marL="152400" indent="-152400">
              <a:lnSpc>
                <a:spcPct val="112000"/>
              </a:lnSpc>
              <a:spcAft>
                <a:spcPts val="400"/>
              </a:spcAft>
              <a:buSzPct val="100000"/>
              <a:buChar char="•"/>
            </a:pPr>
            <a:r>
              <a:rPr lang="en-US" sz="1100" dirty="0">
                <a:solidFill>
                  <a:srgbClr val="9DAAC0"/>
                </a:solidFill>
                <a:latin typeface="Arial" pitchFamily="34" charset="0"/>
                <a:ea typeface="Arial" pitchFamily="34" charset="-122"/>
                <a:cs typeface="Arial" pitchFamily="34" charset="-120"/>
              </a:rPr>
              <a:t>Start collaborations with academia and other industry labs</a:t>
            </a:r>
            <a:endParaRPr lang="en-US" sz="1100" dirty="0"/>
          </a:p>
          <a:p>
            <a:pPr marL="152400" indent="-152400">
              <a:lnSpc>
                <a:spcPct val="112000"/>
              </a:lnSpc>
              <a:spcAft>
                <a:spcPts val="400"/>
              </a:spcAft>
              <a:buSzPct val="100000"/>
              <a:buChar char="•"/>
            </a:pPr>
            <a:r>
              <a:rPr lang="en-US" sz="1100" dirty="0">
                <a:solidFill>
                  <a:srgbClr val="9DAAC0"/>
                </a:solidFill>
                <a:latin typeface="Arial" pitchFamily="34" charset="0"/>
                <a:ea typeface="Arial" pitchFamily="34" charset="-122"/>
                <a:cs typeface="Arial" pitchFamily="34" charset="-120"/>
              </a:rPr>
              <a:t>Discuss how to integrate the latest advances into your business</a:t>
            </a:r>
            <a:endParaRPr lang="en-US" sz="1100" dirty="0"/>
          </a:p>
          <a:p>
            <a:pPr marL="152400" indent="-152400">
              <a:lnSpc>
                <a:spcPct val="112000"/>
              </a:lnSpc>
              <a:buSzPct val="100000"/>
              <a:buChar char="•"/>
            </a:pPr>
            <a:r>
              <a:rPr lang="en-US" sz="1100" dirty="0">
                <a:solidFill>
                  <a:srgbClr val="9DAAC0"/>
                </a:solidFill>
                <a:latin typeface="Arial" pitchFamily="34" charset="0"/>
                <a:ea typeface="Arial" pitchFamily="34" charset="-122"/>
                <a:cs typeface="Arial" pitchFamily="34" charset="-120"/>
              </a:rPr>
              <a:t>Seek talent for your business and start recruiting</a:t>
            </a:r>
            <a:endParaRPr lang="en-US" sz="1100" dirty="0"/>
          </a:p>
        </p:txBody>
      </p:sp>
      <p:pic>
        <p:nvPicPr>
          <p:cNvPr id="10" name="Image 0" descr="/mnt/user-data/uploads/Fig3.jpg"/>
          <p:cNvPicPr>
            <a:picLocks noChangeAspect="1"/>
          </p:cNvPicPr>
          <p:nvPr/>
        </p:nvPicPr>
        <p:blipFill>
          <a:blip r:embed="rId3"/>
          <a:srcRect/>
          <a:stretch/>
        </p:blipFill>
        <p:spPr>
          <a:xfrm>
            <a:off x="557784" y="5120640"/>
            <a:ext cx="4672584" cy="1874520"/>
          </a:xfrm>
          <a:prstGeom prst="rect">
            <a:avLst/>
          </a:prstGeom>
        </p:spPr>
      </p:pic>
      <p:sp>
        <p:nvSpPr>
          <p:cNvPr id="11" name="Shape 8"/>
          <p:cNvSpPr/>
          <p:nvPr/>
        </p:nvSpPr>
        <p:spPr>
          <a:xfrm>
            <a:off x="557784" y="5120640"/>
            <a:ext cx="4672584" cy="1874520"/>
          </a:xfrm>
          <a:prstGeom prst="roundRect">
            <a:avLst>
              <a:gd name="adj" fmla="val 976"/>
            </a:avLst>
          </a:prstGeom>
          <a:ln w="12700">
            <a:solidFill>
              <a:srgbClr val="38455E"/>
            </a:solidFill>
            <a:prstDash val="solid"/>
          </a:ln>
        </p:spPr>
        <p:txBody>
          <a:bodyPr/>
          <a:lstStyle/>
          <a:p>
            <a:endParaRPr lang="en-US"/>
          </a:p>
        </p:txBody>
      </p:sp>
      <p:sp>
        <p:nvSpPr>
          <p:cNvPr id="12" name="Shape 9"/>
          <p:cNvSpPr/>
          <p:nvPr/>
        </p:nvSpPr>
        <p:spPr>
          <a:xfrm>
            <a:off x="5532120" y="1047902"/>
            <a:ext cx="3968496" cy="3611880"/>
          </a:xfrm>
          <a:prstGeom prst="roundRect">
            <a:avLst>
              <a:gd name="adj" fmla="val 2025"/>
            </a:avLst>
          </a:prstGeom>
          <a:solidFill>
            <a:srgbClr val="1D2838"/>
          </a:solidFill>
          <a:ln/>
        </p:spPr>
        <p:txBody>
          <a:bodyPr/>
          <a:lstStyle/>
          <a:p>
            <a:endParaRPr lang="en-US"/>
          </a:p>
        </p:txBody>
      </p:sp>
      <p:sp>
        <p:nvSpPr>
          <p:cNvPr id="13" name="Text 10"/>
          <p:cNvSpPr/>
          <p:nvPr/>
        </p:nvSpPr>
        <p:spPr>
          <a:xfrm>
            <a:off x="5760720" y="1157630"/>
            <a:ext cx="3511296" cy="274320"/>
          </a:xfrm>
          <a:prstGeom prst="rect">
            <a:avLst/>
          </a:prstGeom>
          <a:noFill/>
          <a:ln/>
        </p:spPr>
        <p:txBody>
          <a:bodyPr wrap="square" lIns="0" tIns="0" rIns="0" bIns="0" rtlCol="0" anchor="ctr"/>
          <a:lstStyle/>
          <a:p>
            <a:pPr marL="0" indent="0">
              <a:buNone/>
            </a:pPr>
            <a:r>
              <a:rPr lang="en-US" sz="1200" b="1" dirty="0">
                <a:solidFill>
                  <a:srgbClr val="EAEFF6"/>
                </a:solidFill>
                <a:latin typeface="Arial" pitchFamily="34" charset="0"/>
                <a:ea typeface="Arial" pitchFamily="34" charset="-122"/>
                <a:cs typeface="Arial" pitchFamily="34" charset="-120"/>
              </a:rPr>
              <a:t>CONFERENCE REGISTRATION HISTORY</a:t>
            </a:r>
            <a:endParaRPr lang="en-US" sz="1200" dirty="0"/>
          </a:p>
        </p:txBody>
      </p:sp>
      <p:sp>
        <p:nvSpPr>
          <p:cNvPr id="14" name="Shape 11"/>
          <p:cNvSpPr/>
          <p:nvPr/>
        </p:nvSpPr>
        <p:spPr>
          <a:xfrm>
            <a:off x="5760720" y="1477670"/>
            <a:ext cx="3511296" cy="0"/>
          </a:xfrm>
          <a:prstGeom prst="line">
            <a:avLst/>
          </a:prstGeom>
          <a:noFill/>
          <a:ln w="9525">
            <a:solidFill>
              <a:srgbClr val="38455E"/>
            </a:solidFill>
            <a:prstDash val="solid"/>
          </a:ln>
        </p:spPr>
        <p:txBody>
          <a:bodyPr/>
          <a:lstStyle/>
          <a:p>
            <a:endParaRPr lang="en-US"/>
          </a:p>
        </p:txBody>
      </p:sp>
      <p:sp>
        <p:nvSpPr>
          <p:cNvPr id="15" name="Text 12"/>
          <p:cNvSpPr/>
          <p:nvPr/>
        </p:nvSpPr>
        <p:spPr>
          <a:xfrm>
            <a:off x="5760720" y="155996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2018</a:t>
            </a:r>
            <a:endParaRPr lang="en-US" sz="1200" dirty="0"/>
          </a:p>
        </p:txBody>
      </p:sp>
      <p:sp>
        <p:nvSpPr>
          <p:cNvPr id="16" name="Text 13"/>
          <p:cNvSpPr/>
          <p:nvPr/>
        </p:nvSpPr>
        <p:spPr>
          <a:xfrm>
            <a:off x="6318504" y="155996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1,200+ In-Person</a:t>
            </a:r>
            <a:endParaRPr lang="en-US" sz="1100" dirty="0"/>
          </a:p>
        </p:txBody>
      </p:sp>
      <p:sp>
        <p:nvSpPr>
          <p:cNvPr id="17" name="Text 14"/>
          <p:cNvSpPr/>
          <p:nvPr/>
        </p:nvSpPr>
        <p:spPr>
          <a:xfrm>
            <a:off x="5760720" y="183428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2019</a:t>
            </a:r>
            <a:endParaRPr lang="en-US" sz="1200" dirty="0"/>
          </a:p>
        </p:txBody>
      </p:sp>
      <p:sp>
        <p:nvSpPr>
          <p:cNvPr id="18" name="Text 15"/>
          <p:cNvSpPr/>
          <p:nvPr/>
        </p:nvSpPr>
        <p:spPr>
          <a:xfrm>
            <a:off x="6318504" y="183428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1,150+ In-Person</a:t>
            </a:r>
            <a:endParaRPr lang="en-US" sz="1100" dirty="0"/>
          </a:p>
        </p:txBody>
      </p:sp>
      <p:sp>
        <p:nvSpPr>
          <p:cNvPr id="19" name="Text 16"/>
          <p:cNvSpPr/>
          <p:nvPr/>
        </p:nvSpPr>
        <p:spPr>
          <a:xfrm>
            <a:off x="5760720" y="210860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2020</a:t>
            </a:r>
            <a:endParaRPr lang="en-US" sz="1200" dirty="0"/>
          </a:p>
        </p:txBody>
      </p:sp>
      <p:sp>
        <p:nvSpPr>
          <p:cNvPr id="20" name="Text 17"/>
          <p:cNvSpPr/>
          <p:nvPr/>
        </p:nvSpPr>
        <p:spPr>
          <a:xfrm>
            <a:off x="6318504" y="210860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5,300+ In-Person</a:t>
            </a:r>
            <a:endParaRPr lang="en-US" sz="1100" dirty="0"/>
          </a:p>
        </p:txBody>
      </p:sp>
      <p:sp>
        <p:nvSpPr>
          <p:cNvPr id="21" name="Text 18"/>
          <p:cNvSpPr/>
          <p:nvPr/>
        </p:nvSpPr>
        <p:spPr>
          <a:xfrm>
            <a:off x="5760720" y="238292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2021</a:t>
            </a:r>
            <a:endParaRPr lang="en-US" sz="1200" dirty="0"/>
          </a:p>
        </p:txBody>
      </p:sp>
      <p:sp>
        <p:nvSpPr>
          <p:cNvPr id="22" name="Text 19"/>
          <p:cNvSpPr/>
          <p:nvPr/>
        </p:nvSpPr>
        <p:spPr>
          <a:xfrm>
            <a:off x="6318504" y="238292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3,700+ Virtual</a:t>
            </a:r>
            <a:endParaRPr lang="en-US" sz="1100" dirty="0"/>
          </a:p>
        </p:txBody>
      </p:sp>
      <p:sp>
        <p:nvSpPr>
          <p:cNvPr id="23" name="Text 20"/>
          <p:cNvSpPr/>
          <p:nvPr/>
        </p:nvSpPr>
        <p:spPr>
          <a:xfrm>
            <a:off x="5760720" y="265724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2022</a:t>
            </a:r>
            <a:endParaRPr lang="en-US" sz="1200" dirty="0"/>
          </a:p>
        </p:txBody>
      </p:sp>
      <p:sp>
        <p:nvSpPr>
          <p:cNvPr id="24" name="Text 21"/>
          <p:cNvSpPr/>
          <p:nvPr/>
        </p:nvSpPr>
        <p:spPr>
          <a:xfrm>
            <a:off x="6318504" y="265724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600+ In-Person · 400+ Virtual</a:t>
            </a:r>
            <a:endParaRPr lang="en-US" sz="1100" dirty="0"/>
          </a:p>
        </p:txBody>
      </p:sp>
      <p:sp>
        <p:nvSpPr>
          <p:cNvPr id="25" name="Text 22"/>
          <p:cNvSpPr/>
          <p:nvPr/>
        </p:nvSpPr>
        <p:spPr>
          <a:xfrm>
            <a:off x="5760720" y="293156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2023</a:t>
            </a:r>
            <a:endParaRPr lang="en-US" sz="1200" dirty="0"/>
          </a:p>
        </p:txBody>
      </p:sp>
      <p:sp>
        <p:nvSpPr>
          <p:cNvPr id="26" name="Text 23"/>
          <p:cNvSpPr/>
          <p:nvPr/>
        </p:nvSpPr>
        <p:spPr>
          <a:xfrm>
            <a:off x="6318504" y="293156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800+ In-Person</a:t>
            </a:r>
            <a:endParaRPr lang="en-US" sz="1100" dirty="0"/>
          </a:p>
        </p:txBody>
      </p:sp>
      <p:sp>
        <p:nvSpPr>
          <p:cNvPr id="27" name="Text 24"/>
          <p:cNvSpPr/>
          <p:nvPr/>
        </p:nvSpPr>
        <p:spPr>
          <a:xfrm>
            <a:off x="5760720" y="320588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2024</a:t>
            </a:r>
            <a:endParaRPr lang="en-US" sz="1200" dirty="0"/>
          </a:p>
        </p:txBody>
      </p:sp>
      <p:sp>
        <p:nvSpPr>
          <p:cNvPr id="28" name="Text 25"/>
          <p:cNvSpPr/>
          <p:nvPr/>
        </p:nvSpPr>
        <p:spPr>
          <a:xfrm>
            <a:off x="6318504" y="320588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700+ Virtual</a:t>
            </a:r>
            <a:endParaRPr lang="en-US" sz="1100" dirty="0"/>
          </a:p>
        </p:txBody>
      </p:sp>
      <p:sp>
        <p:nvSpPr>
          <p:cNvPr id="29" name="Text 26"/>
          <p:cNvSpPr/>
          <p:nvPr/>
        </p:nvSpPr>
        <p:spPr>
          <a:xfrm>
            <a:off x="5760720" y="3480206"/>
            <a:ext cx="548640" cy="274320"/>
          </a:xfrm>
          <a:prstGeom prst="rect">
            <a:avLst/>
          </a:prstGeom>
          <a:noFill/>
          <a:ln/>
        </p:spPr>
        <p:txBody>
          <a:bodyPr wrap="square" lIns="0" tIns="0" rIns="0" bIns="0" rtlCol="0" anchor="ctr"/>
          <a:lstStyle/>
          <a:p>
            <a:pPr marL="0" indent="0">
              <a:buNone/>
            </a:pPr>
            <a:r>
              <a:rPr lang="en-US" sz="1200" b="1" dirty="0">
                <a:solidFill>
                  <a:srgbClr val="E8762C"/>
                </a:solidFill>
                <a:latin typeface="Arial" pitchFamily="34" charset="0"/>
                <a:ea typeface="Arial" pitchFamily="34" charset="-122"/>
                <a:cs typeface="Arial" pitchFamily="34" charset="-120"/>
              </a:rPr>
              <a:t>2025</a:t>
            </a:r>
            <a:endParaRPr lang="en-US" sz="1200" dirty="0"/>
          </a:p>
        </p:txBody>
      </p:sp>
      <p:sp>
        <p:nvSpPr>
          <p:cNvPr id="30" name="Text 27"/>
          <p:cNvSpPr/>
          <p:nvPr/>
        </p:nvSpPr>
        <p:spPr>
          <a:xfrm>
            <a:off x="6318504" y="3480206"/>
            <a:ext cx="2962656" cy="274320"/>
          </a:xfrm>
          <a:prstGeom prst="rect">
            <a:avLst/>
          </a:prstGeom>
          <a:noFill/>
          <a:ln/>
        </p:spPr>
        <p:txBody>
          <a:bodyPr wrap="square" lIns="0" tIns="0" rIns="0" bIns="0" rtlCol="0" anchor="ctr"/>
          <a:lstStyle/>
          <a:p>
            <a:pPr marL="0" indent="0">
              <a:buNone/>
            </a:pPr>
            <a:r>
              <a:rPr lang="en-US" sz="1100" dirty="0">
                <a:solidFill>
                  <a:srgbClr val="9DAAC0"/>
                </a:solidFill>
                <a:latin typeface="Arial" pitchFamily="34" charset="0"/>
                <a:ea typeface="Arial" pitchFamily="34" charset="-122"/>
                <a:cs typeface="Arial" pitchFamily="34" charset="-120"/>
              </a:rPr>
              <a:t>1,114 In-Person</a:t>
            </a:r>
            <a:endParaRPr lang="en-US" sz="1100" dirty="0"/>
          </a:p>
        </p:txBody>
      </p:sp>
      <p:sp>
        <p:nvSpPr>
          <p:cNvPr id="31" name="Shape 28"/>
          <p:cNvSpPr/>
          <p:nvPr/>
        </p:nvSpPr>
        <p:spPr>
          <a:xfrm>
            <a:off x="5705856" y="4056278"/>
            <a:ext cx="3621024" cy="429768"/>
          </a:xfrm>
          <a:prstGeom prst="roundRect">
            <a:avLst>
              <a:gd name="adj" fmla="val 14894"/>
            </a:avLst>
          </a:prstGeom>
          <a:solidFill>
            <a:srgbClr val="C8407F"/>
          </a:solidFill>
          <a:ln/>
        </p:spPr>
        <p:txBody>
          <a:bodyPr/>
          <a:lstStyle/>
          <a:p>
            <a:endParaRPr lang="en-US"/>
          </a:p>
        </p:txBody>
      </p:sp>
      <p:sp>
        <p:nvSpPr>
          <p:cNvPr id="32" name="Text 29"/>
          <p:cNvSpPr/>
          <p:nvPr/>
        </p:nvSpPr>
        <p:spPr>
          <a:xfrm>
            <a:off x="5705856" y="4056278"/>
            <a:ext cx="3621024" cy="42976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2026 — 1,000+ In-Person</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Registrants Expected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SUPPORT PACKAGES</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993038"/>
            <a:ext cx="8942832" cy="685800"/>
          </a:xfrm>
          <a:prstGeom prst="rect">
            <a:avLst/>
          </a:prstGeom>
          <a:noFill/>
          <a:ln/>
        </p:spPr>
        <p:txBody>
          <a:bodyPr wrap="square" lIns="0" tIns="0" rIns="0" bIns="0" rtlCol="0" anchor="t"/>
          <a:lstStyle/>
          <a:p>
            <a:pPr marL="0" indent="0">
              <a:lnSpc>
                <a:spcPct val="112000"/>
              </a:lnSpc>
              <a:buNone/>
            </a:pPr>
            <a:r>
              <a:rPr lang="en-US" sz="1200" dirty="0">
                <a:solidFill>
                  <a:srgbClr val="9DAAC0"/>
                </a:solidFill>
                <a:latin typeface="Arial" pitchFamily="34" charset="0"/>
                <a:ea typeface="Arial" pitchFamily="34" charset="-122"/>
                <a:cs typeface="Arial" pitchFamily="34" charset="-120"/>
              </a:rPr>
              <a:t>We are pleased to offer various support packages to best enable you to achieve your goals. We are excited to let you know that we are allowing supporters to present cutting-edge technologies, build new and strengthen existing relationships, and increase awareness amongst leading researchers in the field.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2253299180"/>
              </p:ext>
            </p:extLst>
          </p:nvPr>
        </p:nvGraphicFramePr>
        <p:xfrm>
          <a:off x="557784" y="1782470"/>
          <a:ext cx="8942830" cy="4608576"/>
        </p:xfrm>
        <a:graphic>
          <a:graphicData uri="http://schemas.openxmlformats.org/drawingml/2006/table">
            <a:tbl>
              <a:tblPr/>
              <a:tblGrid>
                <a:gridCol w="3931920">
                  <a:extLst>
                    <a:ext uri="{9D8B030D-6E8A-4147-A177-3AD203B41FA5}">
                      <a16:colId xmlns:a16="http://schemas.microsoft.com/office/drawing/2014/main" val="20000"/>
                    </a:ext>
                  </a:extLst>
                </a:gridCol>
                <a:gridCol w="1002182">
                  <a:extLst>
                    <a:ext uri="{9D8B030D-6E8A-4147-A177-3AD203B41FA5}">
                      <a16:colId xmlns:a16="http://schemas.microsoft.com/office/drawing/2014/main" val="20001"/>
                    </a:ext>
                  </a:extLst>
                </a:gridCol>
                <a:gridCol w="1002182">
                  <a:extLst>
                    <a:ext uri="{9D8B030D-6E8A-4147-A177-3AD203B41FA5}">
                      <a16:colId xmlns:a16="http://schemas.microsoft.com/office/drawing/2014/main" val="20002"/>
                    </a:ext>
                  </a:extLst>
                </a:gridCol>
                <a:gridCol w="1002182">
                  <a:extLst>
                    <a:ext uri="{9D8B030D-6E8A-4147-A177-3AD203B41FA5}">
                      <a16:colId xmlns:a16="http://schemas.microsoft.com/office/drawing/2014/main" val="20003"/>
                    </a:ext>
                  </a:extLst>
                </a:gridCol>
                <a:gridCol w="1002182">
                  <a:extLst>
                    <a:ext uri="{9D8B030D-6E8A-4147-A177-3AD203B41FA5}">
                      <a16:colId xmlns:a16="http://schemas.microsoft.com/office/drawing/2014/main" val="20004"/>
                    </a:ext>
                  </a:extLst>
                </a:gridCol>
                <a:gridCol w="1002182">
                  <a:extLst>
                    <a:ext uri="{9D8B030D-6E8A-4147-A177-3AD203B41FA5}">
                      <a16:colId xmlns:a16="http://schemas.microsoft.com/office/drawing/2014/main" val="20005"/>
                    </a:ext>
                  </a:extLst>
                </a:gridCol>
              </a:tblGrid>
              <a:tr h="329184">
                <a:tc>
                  <a:txBody>
                    <a:bodyPr/>
                    <a:lstStyle/>
                    <a:p>
                      <a:pPr marL="0" indent="0">
                        <a:buNone/>
                      </a:pPr>
                      <a:endParaRPr lang="en-US" sz="12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150" b="1" dirty="0">
                          <a:solidFill>
                            <a:srgbClr val="C9D4E4"/>
                          </a:solidFill>
                          <a:latin typeface="Arial" pitchFamily="34" charset="0"/>
                          <a:ea typeface="Arial" pitchFamily="34" charset="-122"/>
                          <a:cs typeface="Arial" pitchFamily="34" charset="-120"/>
                        </a:rPr>
                        <a:t>PLATINUM</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150" b="1" dirty="0">
                          <a:solidFill>
                            <a:srgbClr val="E5A93D"/>
                          </a:solidFill>
                          <a:latin typeface="Arial" pitchFamily="34" charset="0"/>
                          <a:ea typeface="Arial" pitchFamily="34" charset="-122"/>
                          <a:cs typeface="Arial" pitchFamily="34" charset="-120"/>
                        </a:rPr>
                        <a:t>GOLD</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150" b="1" dirty="0">
                          <a:solidFill>
                            <a:srgbClr val="AEB9C9"/>
                          </a:solidFill>
                          <a:latin typeface="Arial" pitchFamily="34" charset="0"/>
                          <a:ea typeface="Arial" pitchFamily="34" charset="-122"/>
                          <a:cs typeface="Arial" pitchFamily="34" charset="-120"/>
                        </a:rPr>
                        <a:t>SILVER</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150" b="1" dirty="0">
                          <a:solidFill>
                            <a:srgbClr val="C77B4A"/>
                          </a:solidFill>
                          <a:latin typeface="Arial" pitchFamily="34" charset="0"/>
                          <a:ea typeface="Arial" pitchFamily="34" charset="-122"/>
                          <a:cs typeface="Arial" pitchFamily="34" charset="-120"/>
                        </a:rPr>
                        <a:t>BRONZE</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150" b="1" dirty="0">
                          <a:solidFill>
                            <a:srgbClr val="6FA8DC"/>
                          </a:solidFill>
                          <a:latin typeface="Arial" pitchFamily="34" charset="0"/>
                          <a:ea typeface="Arial" pitchFamily="34" charset="-122"/>
                          <a:cs typeface="Arial" pitchFamily="34" charset="-120"/>
                        </a:rPr>
                        <a:t>ACADEMIC</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extLst>
                  <a:ext uri="{0D108BD9-81ED-4DB2-BD59-A6C34878D82A}">
                    <a16:rowId xmlns:a16="http://schemas.microsoft.com/office/drawing/2014/main" val="10000"/>
                  </a:ext>
                </a:extLst>
              </a:tr>
              <a:tr h="329184">
                <a:tc gridSpan="6">
                  <a:txBody>
                    <a:bodyPr/>
                    <a:lstStyle/>
                    <a:p>
                      <a:pPr marL="0" indent="0">
                        <a:buNone/>
                      </a:pPr>
                      <a:r>
                        <a:rPr lang="en-US" sz="1000" b="1" dirty="0">
                          <a:solidFill>
                            <a:srgbClr val="E8762C"/>
                          </a:solidFill>
                          <a:latin typeface="Arial" pitchFamily="34" charset="0"/>
                          <a:ea typeface="Arial" pitchFamily="34" charset="-122"/>
                          <a:cs typeface="Arial" pitchFamily="34" charset="-120"/>
                        </a:rPr>
                        <a:t>SUPPORT ACKNOWLEDGMENT</a:t>
                      </a:r>
                      <a:endParaRPr lang="en-US" sz="10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41C2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Website and Signage Acknowledgment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77B4A"/>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6FA8D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Acknowledgment at Opening/Closing</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77B4A"/>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6FA8D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3"/>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Acknowledgment in Monthly E-mails</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77B4A"/>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6FA8D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4"/>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Acknowledgment in between Sessions</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77B4A"/>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6FA8D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5"/>
                  </a:ext>
                </a:extLst>
              </a:tr>
              <a:tr h="329184">
                <a:tc gridSpan="6">
                  <a:txBody>
                    <a:bodyPr/>
                    <a:lstStyle/>
                    <a:p>
                      <a:pPr marL="0" indent="0">
                        <a:buNone/>
                      </a:pPr>
                      <a:r>
                        <a:rPr lang="en-US" sz="1000" b="1" dirty="0">
                          <a:solidFill>
                            <a:srgbClr val="E8762C"/>
                          </a:solidFill>
                          <a:latin typeface="Arial" pitchFamily="34" charset="0"/>
                          <a:ea typeface="Arial" pitchFamily="34" charset="-122"/>
                          <a:cs typeface="Arial" pitchFamily="34" charset="-120"/>
                        </a:rPr>
                        <a:t>ORGANIZATIONAL PROMOTION</a:t>
                      </a:r>
                      <a:endParaRPr lang="en-US" sz="10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41C2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Feature in E-mail to Registered Attendees</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7"/>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Featured Advertisement Between Sessions</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08"/>
                  </a:ext>
                </a:extLst>
              </a:tr>
              <a:tr h="329184">
                <a:tc gridSpan="6">
                  <a:txBody>
                    <a:bodyPr/>
                    <a:lstStyle/>
                    <a:p>
                      <a:pPr marL="0" indent="0">
                        <a:buNone/>
                      </a:pPr>
                      <a:r>
                        <a:rPr lang="en-US" sz="1000" b="1" dirty="0">
                          <a:solidFill>
                            <a:srgbClr val="E8762C"/>
                          </a:solidFill>
                          <a:latin typeface="Arial" pitchFamily="34" charset="0"/>
                          <a:ea typeface="Arial" pitchFamily="34" charset="-122"/>
                          <a:cs typeface="Arial" pitchFamily="34" charset="-120"/>
                        </a:rPr>
                        <a:t>COMMUNITY ENGAGEMENT</a:t>
                      </a:r>
                      <a:endParaRPr lang="en-US" sz="10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41C2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Job announcements at Job Board</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77B4A"/>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6FA8D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10"/>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Table in Exhibition Space</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C9D4E4"/>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E5A9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AEB9C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00" dirty="0">
                          <a:solidFill>
                            <a:srgbClr val="42506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11"/>
                  </a:ext>
                </a:extLst>
              </a:tr>
              <a:tr h="329184">
                <a:tc>
                  <a:txBody>
                    <a:bodyPr/>
                    <a:lstStyle/>
                    <a:p>
                      <a:pPr marL="0" indent="0" algn="l">
                        <a:buNone/>
                      </a:pPr>
                      <a:r>
                        <a:rPr lang="en-US" sz="1100" dirty="0">
                          <a:solidFill>
                            <a:srgbClr val="EAEFF6"/>
                          </a:solidFill>
                          <a:latin typeface="Arial" pitchFamily="34" charset="0"/>
                          <a:ea typeface="Arial" pitchFamily="34" charset="-122"/>
                          <a:cs typeface="Arial" pitchFamily="34" charset="-120"/>
                        </a:rPr>
                        <a:t>Free Registrations</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50" b="1" dirty="0">
                          <a:solidFill>
                            <a:srgbClr val="EAEFF6"/>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50" b="1" dirty="0">
                          <a:solidFill>
                            <a:srgbClr val="EAEFF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50" b="1" dirty="0">
                          <a:solidFill>
                            <a:srgbClr val="EAEFF6"/>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50" b="1" dirty="0">
                          <a:solidFill>
                            <a:srgbClr val="EAEFF6"/>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150" b="1" dirty="0">
                          <a:solidFill>
                            <a:srgbClr val="EAEFF6"/>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extLst>
                  <a:ext uri="{0D108BD9-81ED-4DB2-BD59-A6C34878D82A}">
                    <a16:rowId xmlns:a16="http://schemas.microsoft.com/office/drawing/2014/main" val="10012"/>
                  </a:ext>
                </a:extLst>
              </a:tr>
              <a:tr h="329184">
                <a:tc>
                  <a:txBody>
                    <a:bodyPr/>
                    <a:lstStyle/>
                    <a:p>
                      <a:pPr marL="0" indent="0" algn="l">
                        <a:buNone/>
                      </a:pPr>
                      <a:r>
                        <a:rPr lang="en-US" sz="1100" b="1" dirty="0">
                          <a:solidFill>
                            <a:srgbClr val="9DAAC0"/>
                          </a:solidFill>
                          <a:latin typeface="Arial" pitchFamily="34" charset="0"/>
                          <a:ea typeface="Arial" pitchFamily="34" charset="-122"/>
                          <a:cs typeface="Arial" pitchFamily="34" charset="-120"/>
                        </a:rPr>
                        <a:t>Base Cost</a:t>
                      </a:r>
                      <a:endParaRPr lang="en-US" sz="11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1D2838"/>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$24,200</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C8407F"/>
                    </a:solidFill>
                  </a:tcPr>
                </a:tc>
                <a:tc>
                  <a:txBody>
                    <a:bodyPr/>
                    <a:lstStyle/>
                    <a:p>
                      <a:pPr marL="0" indent="0" algn="ctr">
                        <a:buNone/>
                      </a:pPr>
                      <a:r>
                        <a:rPr lang="en-US" sz="1300" b="1" dirty="0">
                          <a:solidFill>
                            <a:srgbClr val="EAEFF6"/>
                          </a:solidFill>
                          <a:latin typeface="Arial" pitchFamily="34" charset="0"/>
                          <a:ea typeface="Arial" pitchFamily="34" charset="-122"/>
                          <a:cs typeface="Arial" pitchFamily="34" charset="-120"/>
                        </a:rPr>
                        <a:t>$13,200</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300" b="1" dirty="0">
                          <a:solidFill>
                            <a:srgbClr val="EAEFF6"/>
                          </a:solidFill>
                          <a:latin typeface="Arial" pitchFamily="34" charset="0"/>
                          <a:ea typeface="Arial" pitchFamily="34" charset="-122"/>
                          <a:cs typeface="Arial" pitchFamily="34" charset="-120"/>
                        </a:rPr>
                        <a:t>$6,600</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300" b="1" dirty="0">
                          <a:solidFill>
                            <a:srgbClr val="EAEFF6"/>
                          </a:solidFill>
                          <a:latin typeface="Arial" pitchFamily="34" charset="0"/>
                          <a:ea typeface="Arial" pitchFamily="34" charset="-122"/>
                          <a:cs typeface="Arial" pitchFamily="34" charset="-120"/>
                        </a:rPr>
                        <a:t>$3,300</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tc>
                  <a:txBody>
                    <a:bodyPr/>
                    <a:lstStyle/>
                    <a:p>
                      <a:pPr marL="0" indent="0" algn="ctr">
                        <a:buNone/>
                      </a:pPr>
                      <a:r>
                        <a:rPr lang="en-US" sz="1300" b="1" dirty="0">
                          <a:solidFill>
                            <a:srgbClr val="EAEFF6"/>
                          </a:solidFill>
                          <a:latin typeface="Arial" pitchFamily="34" charset="0"/>
                          <a:ea typeface="Arial" pitchFamily="34" charset="-122"/>
                          <a:cs typeface="Arial" pitchFamily="34" charset="-120"/>
                        </a:rPr>
                        <a:t>$1,650</a:t>
                      </a:r>
                      <a:endParaRPr lang="en-US" sz="1300" dirty="0">
                        <a:latin typeface="Arial" charset="0"/>
                        <a:ea typeface="Arial" charset="0"/>
                        <a:cs typeface="Arial" charset="0"/>
                      </a:endParaRPr>
                    </a:p>
                  </a:txBody>
                  <a:tcPr marL="73152" marR="73152" marT="36576" marB="36576" anchor="ctr">
                    <a:lnL w="12700" cap="flat" cmpd="sng" algn="ctr">
                      <a:solidFill>
                        <a:srgbClr val="141C29"/>
                      </a:solidFill>
                      <a:prstDash val="solid"/>
                      <a:round/>
                      <a:headEnd type="none" w="med" len="med"/>
                      <a:tailEnd type="none" w="med" len="med"/>
                    </a:lnL>
                    <a:lnR w="12700" cap="flat" cmpd="sng" algn="ctr">
                      <a:solidFill>
                        <a:srgbClr val="141C29"/>
                      </a:solidFill>
                      <a:prstDash val="solid"/>
                      <a:round/>
                      <a:headEnd type="none" w="med" len="med"/>
                      <a:tailEnd type="none" w="med" len="med"/>
                    </a:lnR>
                    <a:lnT w="6350" cap="flat" cmpd="sng" algn="ctr">
                      <a:solidFill>
                        <a:srgbClr val="38455E"/>
                      </a:solidFill>
                      <a:prstDash val="solid"/>
                      <a:round/>
                      <a:headEnd type="none" w="med" len="med"/>
                      <a:tailEnd type="none" w="med" len="med"/>
                    </a:lnT>
                    <a:lnB w="6350" cap="flat" cmpd="sng" algn="ctr">
                      <a:solidFill>
                        <a:srgbClr val="38455E"/>
                      </a:solidFill>
                      <a:prstDash val="solid"/>
                      <a:round/>
                      <a:headEnd type="none" w="med" len="med"/>
                      <a:tailEnd type="none" w="med" len="med"/>
                    </a:lnB>
                    <a:solidFill>
                      <a:srgbClr val="26334A"/>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SUPPORT PACKAGES — PLATINUM &amp; GOLD</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Shape 7"/>
          <p:cNvSpPr/>
          <p:nvPr/>
        </p:nvSpPr>
        <p:spPr>
          <a:xfrm>
            <a:off x="557784" y="1047902"/>
            <a:ext cx="4320540" cy="5394960"/>
          </a:xfrm>
          <a:prstGeom prst="roundRect">
            <a:avLst>
              <a:gd name="adj" fmla="val 1693"/>
            </a:avLst>
          </a:prstGeom>
          <a:solidFill>
            <a:srgbClr val="1D2838"/>
          </a:solidFill>
          <a:ln/>
        </p:spPr>
        <p:txBody>
          <a:bodyPr/>
          <a:lstStyle/>
          <a:p>
            <a:endParaRPr lang="en-US"/>
          </a:p>
        </p:txBody>
      </p:sp>
      <p:sp>
        <p:nvSpPr>
          <p:cNvPr id="10" name="Shape 8"/>
          <p:cNvSpPr/>
          <p:nvPr/>
        </p:nvSpPr>
        <p:spPr>
          <a:xfrm>
            <a:off x="557784" y="1102766"/>
            <a:ext cx="64008" cy="5285232"/>
          </a:xfrm>
          <a:prstGeom prst="rect">
            <a:avLst/>
          </a:prstGeom>
          <a:solidFill>
            <a:srgbClr val="C9D4E4"/>
          </a:solidFill>
          <a:ln/>
        </p:spPr>
        <p:txBody>
          <a:bodyPr/>
          <a:lstStyle/>
          <a:p>
            <a:endParaRPr lang="en-US"/>
          </a:p>
        </p:txBody>
      </p:sp>
      <p:sp>
        <p:nvSpPr>
          <p:cNvPr id="11" name="Text 9"/>
          <p:cNvSpPr/>
          <p:nvPr/>
        </p:nvSpPr>
        <p:spPr>
          <a:xfrm>
            <a:off x="758952" y="1157630"/>
            <a:ext cx="2592324" cy="320040"/>
          </a:xfrm>
          <a:prstGeom prst="rect">
            <a:avLst/>
          </a:prstGeom>
          <a:noFill/>
          <a:ln/>
        </p:spPr>
        <p:txBody>
          <a:bodyPr wrap="square" lIns="0" tIns="0" rIns="0" bIns="0" rtlCol="0" anchor="ctr"/>
          <a:lstStyle/>
          <a:p>
            <a:pPr marL="0" indent="0">
              <a:buNone/>
            </a:pPr>
            <a:r>
              <a:rPr lang="en-US" sz="1500" b="1" dirty="0">
                <a:solidFill>
                  <a:srgbClr val="C9D4E4"/>
                </a:solidFill>
                <a:latin typeface="Arial" pitchFamily="34" charset="0"/>
                <a:ea typeface="Arial" pitchFamily="34" charset="-122"/>
                <a:cs typeface="Arial" pitchFamily="34" charset="-120"/>
              </a:rPr>
              <a:t>PLATINUM</a:t>
            </a:r>
            <a:endParaRPr lang="en-US" sz="1500" dirty="0"/>
          </a:p>
        </p:txBody>
      </p:sp>
      <p:sp>
        <p:nvSpPr>
          <p:cNvPr id="12" name="Text 10"/>
          <p:cNvSpPr/>
          <p:nvPr/>
        </p:nvSpPr>
        <p:spPr>
          <a:xfrm>
            <a:off x="3305556" y="1157630"/>
            <a:ext cx="1371600" cy="320040"/>
          </a:xfrm>
          <a:prstGeom prst="rect">
            <a:avLst/>
          </a:prstGeom>
          <a:noFill/>
          <a:ln/>
        </p:spPr>
        <p:txBody>
          <a:bodyPr wrap="square" lIns="0" tIns="0" rIns="0" bIns="0" rtlCol="0" anchor="ctr"/>
          <a:lstStyle/>
          <a:p>
            <a:pPr marL="0" indent="0" algn="r">
              <a:buNone/>
            </a:pPr>
            <a:r>
              <a:rPr lang="en-US" sz="1500" b="1" dirty="0">
                <a:solidFill>
                  <a:srgbClr val="EAEFF6"/>
                </a:solidFill>
                <a:latin typeface="Arial" pitchFamily="34" charset="0"/>
                <a:ea typeface="Arial" pitchFamily="34" charset="-122"/>
                <a:cs typeface="Arial" pitchFamily="34" charset="-120"/>
              </a:rPr>
              <a:t>$24,200</a:t>
            </a:r>
            <a:endParaRPr lang="en-US" sz="1500" dirty="0"/>
          </a:p>
        </p:txBody>
      </p:sp>
      <p:sp>
        <p:nvSpPr>
          <p:cNvPr id="13" name="Shape 11"/>
          <p:cNvSpPr/>
          <p:nvPr/>
        </p:nvSpPr>
        <p:spPr>
          <a:xfrm>
            <a:off x="758952" y="1523390"/>
            <a:ext cx="3918204" cy="0"/>
          </a:xfrm>
          <a:prstGeom prst="line">
            <a:avLst/>
          </a:prstGeom>
          <a:noFill/>
          <a:ln w="9525">
            <a:solidFill>
              <a:srgbClr val="38455E"/>
            </a:solidFill>
            <a:prstDash val="solid"/>
          </a:ln>
        </p:spPr>
        <p:txBody>
          <a:bodyPr/>
          <a:lstStyle/>
          <a:p>
            <a:endParaRPr lang="en-US"/>
          </a:p>
        </p:txBody>
      </p:sp>
      <p:sp>
        <p:nvSpPr>
          <p:cNvPr id="14" name="Text 12"/>
          <p:cNvSpPr/>
          <p:nvPr/>
        </p:nvSpPr>
        <p:spPr>
          <a:xfrm>
            <a:off x="758952" y="1614830"/>
            <a:ext cx="3918204" cy="4709160"/>
          </a:xfrm>
          <a:prstGeom prst="rect">
            <a:avLst/>
          </a:prstGeom>
          <a:noFill/>
          <a:ln/>
        </p:spPr>
        <p:txBody>
          <a:bodyPr wrap="square" lIns="0" tIns="0" rIns="0" bIns="0" rtlCol="0" anchor="t"/>
          <a:lstStyle/>
          <a:p>
            <a:pPr marL="0" indent="0">
              <a:lnSpc>
                <a:spcPct val="108000"/>
              </a:lnSpc>
              <a:spcAft>
                <a:spcPts val="400"/>
              </a:spcAft>
              <a:buNone/>
            </a:pPr>
            <a:r>
              <a:rPr lang="en-US" sz="900" b="1" dirty="0">
                <a:solidFill>
                  <a:srgbClr val="E8762C"/>
                </a:solidFill>
                <a:latin typeface="Arial" pitchFamily="34" charset="0"/>
                <a:ea typeface="Arial" pitchFamily="34" charset="-122"/>
                <a:cs typeface="Arial" pitchFamily="34" charset="-120"/>
              </a:rPr>
              <a:t>SUPPORT ACKNOWLEDGMENTS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Acknowledgment as a Platinum Supporter with logo recognition¹ on conference signage and conference webpages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Verbal Acknowledgment as a Platinum Supporter at the Opening and Closing sessions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Logo recognition¹ in monthly conference marketing emails leading up to the event</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Static advertisement¹ on rotation with other supporters displayed all rooms between all sessions</a:t>
            </a:r>
            <a:endParaRPr lang="en-US" sz="900" dirty="0"/>
          </a:p>
          <a:p>
            <a:pPr marL="0" indent="0">
              <a:lnSpc>
                <a:spcPct val="108000"/>
              </a:lnSpc>
              <a:spcBef>
                <a:spcPts val="800"/>
              </a:spcBef>
              <a:spcAft>
                <a:spcPts val="400"/>
              </a:spcAft>
              <a:buNone/>
            </a:pPr>
            <a:r>
              <a:rPr lang="en-US" sz="900" b="1" dirty="0">
                <a:solidFill>
                  <a:srgbClr val="E8762C"/>
                </a:solidFill>
                <a:latin typeface="Arial" pitchFamily="34" charset="0"/>
                <a:ea typeface="Arial" pitchFamily="34" charset="-122"/>
                <a:cs typeface="Arial" pitchFamily="34" charset="-120"/>
              </a:rPr>
              <a:t>ORGANIZATIONAL PROMOTION</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A featured article¹ (200-word max) to be included in a pre-conference email newsletter to be distributed by the Conference Organizers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15-sec video advertisement¹ to be played between concurrent sessions</a:t>
            </a:r>
            <a:endParaRPr lang="en-US" sz="900" dirty="0"/>
          </a:p>
          <a:p>
            <a:pPr marL="0" indent="0">
              <a:lnSpc>
                <a:spcPct val="108000"/>
              </a:lnSpc>
              <a:spcBef>
                <a:spcPts val="800"/>
              </a:spcBef>
              <a:spcAft>
                <a:spcPts val="400"/>
              </a:spcAft>
              <a:buNone/>
            </a:pPr>
            <a:r>
              <a:rPr lang="en-US" sz="900" b="1" dirty="0">
                <a:solidFill>
                  <a:srgbClr val="E8762C"/>
                </a:solidFill>
                <a:latin typeface="Arial" pitchFamily="34" charset="0"/>
                <a:ea typeface="Arial" pitchFamily="34" charset="-122"/>
                <a:cs typeface="Arial" pitchFamily="34" charset="-120"/>
              </a:rPr>
              <a:t>COMMUNITY ENGAGEMENT</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Priority location in the exhibition space, including table, chairs, and access to power</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Ability to place job announcements on job board</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Up to seven (7) conference registrations for members of your organization, including the Conference Reception and Banquet</a:t>
            </a:r>
            <a:endParaRPr lang="en-US" sz="900" dirty="0"/>
          </a:p>
        </p:txBody>
      </p:sp>
      <p:sp>
        <p:nvSpPr>
          <p:cNvPr id="15" name="Shape 13"/>
          <p:cNvSpPr/>
          <p:nvPr/>
        </p:nvSpPr>
        <p:spPr>
          <a:xfrm>
            <a:off x="5180076" y="1047902"/>
            <a:ext cx="4320540" cy="5394960"/>
          </a:xfrm>
          <a:prstGeom prst="roundRect">
            <a:avLst>
              <a:gd name="adj" fmla="val 1693"/>
            </a:avLst>
          </a:prstGeom>
          <a:solidFill>
            <a:srgbClr val="1D2838"/>
          </a:solidFill>
          <a:ln/>
        </p:spPr>
        <p:txBody>
          <a:bodyPr/>
          <a:lstStyle/>
          <a:p>
            <a:endParaRPr lang="en-US"/>
          </a:p>
        </p:txBody>
      </p:sp>
      <p:sp>
        <p:nvSpPr>
          <p:cNvPr id="16" name="Shape 14"/>
          <p:cNvSpPr/>
          <p:nvPr/>
        </p:nvSpPr>
        <p:spPr>
          <a:xfrm>
            <a:off x="5180076" y="1102766"/>
            <a:ext cx="64008" cy="5285232"/>
          </a:xfrm>
          <a:prstGeom prst="rect">
            <a:avLst/>
          </a:prstGeom>
          <a:solidFill>
            <a:srgbClr val="E5A93D"/>
          </a:solidFill>
          <a:ln/>
        </p:spPr>
        <p:txBody>
          <a:bodyPr/>
          <a:lstStyle/>
          <a:p>
            <a:endParaRPr lang="en-US"/>
          </a:p>
        </p:txBody>
      </p:sp>
      <p:sp>
        <p:nvSpPr>
          <p:cNvPr id="17" name="Text 15"/>
          <p:cNvSpPr/>
          <p:nvPr/>
        </p:nvSpPr>
        <p:spPr>
          <a:xfrm>
            <a:off x="5381244" y="1157630"/>
            <a:ext cx="2592324" cy="320040"/>
          </a:xfrm>
          <a:prstGeom prst="rect">
            <a:avLst/>
          </a:prstGeom>
          <a:noFill/>
          <a:ln/>
        </p:spPr>
        <p:txBody>
          <a:bodyPr wrap="square" lIns="0" tIns="0" rIns="0" bIns="0" rtlCol="0" anchor="ctr"/>
          <a:lstStyle/>
          <a:p>
            <a:pPr marL="0" indent="0">
              <a:buNone/>
            </a:pPr>
            <a:r>
              <a:rPr lang="en-US" sz="1500" b="1" dirty="0">
                <a:solidFill>
                  <a:srgbClr val="E5A93D"/>
                </a:solidFill>
                <a:latin typeface="Arial" pitchFamily="34" charset="0"/>
                <a:ea typeface="Arial" pitchFamily="34" charset="-122"/>
                <a:cs typeface="Arial" pitchFamily="34" charset="-120"/>
              </a:rPr>
              <a:t>GOLD</a:t>
            </a:r>
            <a:endParaRPr lang="en-US" sz="1500" dirty="0"/>
          </a:p>
        </p:txBody>
      </p:sp>
      <p:sp>
        <p:nvSpPr>
          <p:cNvPr id="18" name="Text 16"/>
          <p:cNvSpPr/>
          <p:nvPr/>
        </p:nvSpPr>
        <p:spPr>
          <a:xfrm>
            <a:off x="7927848" y="1157630"/>
            <a:ext cx="1371600" cy="320040"/>
          </a:xfrm>
          <a:prstGeom prst="rect">
            <a:avLst/>
          </a:prstGeom>
          <a:noFill/>
          <a:ln/>
        </p:spPr>
        <p:txBody>
          <a:bodyPr wrap="square" lIns="0" tIns="0" rIns="0" bIns="0" rtlCol="0" anchor="ctr"/>
          <a:lstStyle/>
          <a:p>
            <a:pPr marL="0" indent="0" algn="r">
              <a:buNone/>
            </a:pPr>
            <a:r>
              <a:rPr lang="en-US" sz="1500" b="1" dirty="0">
                <a:solidFill>
                  <a:srgbClr val="EAEFF6"/>
                </a:solidFill>
                <a:latin typeface="Arial" pitchFamily="34" charset="0"/>
                <a:ea typeface="Arial" pitchFamily="34" charset="-122"/>
                <a:cs typeface="Arial" pitchFamily="34" charset="-120"/>
              </a:rPr>
              <a:t>$13,200</a:t>
            </a:r>
            <a:endParaRPr lang="en-US" sz="1500" dirty="0"/>
          </a:p>
        </p:txBody>
      </p:sp>
      <p:sp>
        <p:nvSpPr>
          <p:cNvPr id="19" name="Shape 17"/>
          <p:cNvSpPr/>
          <p:nvPr/>
        </p:nvSpPr>
        <p:spPr>
          <a:xfrm>
            <a:off x="5381244" y="1523390"/>
            <a:ext cx="3918204" cy="0"/>
          </a:xfrm>
          <a:prstGeom prst="line">
            <a:avLst/>
          </a:prstGeom>
          <a:noFill/>
          <a:ln w="9525">
            <a:solidFill>
              <a:srgbClr val="38455E"/>
            </a:solidFill>
            <a:prstDash val="solid"/>
          </a:ln>
        </p:spPr>
        <p:txBody>
          <a:bodyPr/>
          <a:lstStyle/>
          <a:p>
            <a:endParaRPr lang="en-US"/>
          </a:p>
        </p:txBody>
      </p:sp>
      <p:sp>
        <p:nvSpPr>
          <p:cNvPr id="20" name="Text 18"/>
          <p:cNvSpPr/>
          <p:nvPr/>
        </p:nvSpPr>
        <p:spPr>
          <a:xfrm>
            <a:off x="5381244" y="1614830"/>
            <a:ext cx="3918204" cy="4709160"/>
          </a:xfrm>
          <a:prstGeom prst="rect">
            <a:avLst/>
          </a:prstGeom>
          <a:noFill/>
          <a:ln/>
        </p:spPr>
        <p:txBody>
          <a:bodyPr wrap="square" lIns="0" tIns="0" rIns="0" bIns="0" rtlCol="0" anchor="t"/>
          <a:lstStyle/>
          <a:p>
            <a:pPr marL="0" indent="0">
              <a:lnSpc>
                <a:spcPct val="108000"/>
              </a:lnSpc>
              <a:spcAft>
                <a:spcPts val="400"/>
              </a:spcAft>
              <a:buNone/>
            </a:pPr>
            <a:r>
              <a:rPr lang="en-US" sz="900" b="1" dirty="0">
                <a:solidFill>
                  <a:srgbClr val="E8762C"/>
                </a:solidFill>
                <a:latin typeface="Arial" pitchFamily="34" charset="0"/>
                <a:ea typeface="Arial" pitchFamily="34" charset="-122"/>
                <a:cs typeface="Arial" pitchFamily="34" charset="-120"/>
              </a:rPr>
              <a:t>SUPPORT ACKNOWLEDGMENTS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Acknowledgment as a Gold Supporter with logo recognition¹ on conference signage and conference webpages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Verbal Acknowledgment as a Gold Supporter at the Opening and Closing sessions</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Logo recognition¹ in monthly conference marketing emails leading up to the event</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Static advertisement¹ on rotation with other supporters displayed all rooms between all sessions</a:t>
            </a:r>
            <a:endParaRPr lang="en-US" sz="900" dirty="0"/>
          </a:p>
          <a:p>
            <a:pPr marL="0" indent="0">
              <a:lnSpc>
                <a:spcPct val="108000"/>
              </a:lnSpc>
              <a:spcBef>
                <a:spcPts val="800"/>
              </a:spcBef>
              <a:spcAft>
                <a:spcPts val="400"/>
              </a:spcAft>
              <a:buNone/>
            </a:pPr>
            <a:r>
              <a:rPr lang="en-US" sz="900" b="1" dirty="0">
                <a:solidFill>
                  <a:srgbClr val="E8762C"/>
                </a:solidFill>
                <a:latin typeface="Arial" pitchFamily="34" charset="0"/>
                <a:ea typeface="Arial" pitchFamily="34" charset="-122"/>
                <a:cs typeface="Arial" pitchFamily="34" charset="-120"/>
              </a:rPr>
              <a:t>COMMUNITY ENGAGEMENT</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Location in the exhibition space, including table, chairs, and access to power</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Ability to place job announcements on job board</a:t>
            </a:r>
            <a:endParaRPr lang="en-US" sz="900" dirty="0"/>
          </a:p>
          <a:p>
            <a:pPr marL="127000" indent="-127000">
              <a:lnSpc>
                <a:spcPct val="108000"/>
              </a:lnSpc>
              <a:spcAft>
                <a:spcPts val="300"/>
              </a:spcAft>
              <a:buSzPct val="100000"/>
              <a:buChar char="•"/>
            </a:pPr>
            <a:r>
              <a:rPr lang="en-US" sz="1020" dirty="0">
                <a:solidFill>
                  <a:srgbClr val="9DAAC0"/>
                </a:solidFill>
                <a:latin typeface="Arial" pitchFamily="34" charset="0"/>
                <a:ea typeface="Arial" pitchFamily="34" charset="-122"/>
                <a:cs typeface="Arial" pitchFamily="34" charset="-120"/>
              </a:rPr>
              <a:t>Up to four (4) conference registrations for members of your organization, including the Conference Reception and Banquet</a:t>
            </a:r>
            <a:endParaRPr lang="en-US" sz="900" dirty="0"/>
          </a:p>
        </p:txBody>
      </p:sp>
      <p:sp>
        <p:nvSpPr>
          <p:cNvPr id="21" name="Text 19"/>
          <p:cNvSpPr/>
          <p:nvPr/>
        </p:nvSpPr>
        <p:spPr>
          <a:xfrm>
            <a:off x="557784" y="6995160"/>
            <a:ext cx="8942832" cy="228600"/>
          </a:xfrm>
          <a:prstGeom prst="rect">
            <a:avLst/>
          </a:prstGeom>
          <a:noFill/>
          <a:ln/>
        </p:spPr>
        <p:txBody>
          <a:bodyPr wrap="square" lIns="0" tIns="0" rIns="0" bIns="0" rtlCol="0" anchor="ctr"/>
          <a:lstStyle/>
          <a:p>
            <a:pPr marL="0" indent="0">
              <a:buNone/>
            </a:pPr>
            <a:r>
              <a:rPr lang="en-US" sz="800" i="1" dirty="0">
                <a:solidFill>
                  <a:srgbClr val="9DAAC0"/>
                </a:solidFill>
                <a:latin typeface="Arial" pitchFamily="34" charset="0"/>
                <a:ea typeface="Arial" pitchFamily="34" charset="-122"/>
                <a:cs typeface="Arial" pitchFamily="34" charset="-120"/>
              </a:rPr>
              <a:t>¹ Content, including logos, videos, articles, etc., to be provided by the supporter and subject to the approval of the conference organizers.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SUPPORT PACKAGES — SILVER, BRONZE &amp; ACADEMIC</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Shape 7"/>
          <p:cNvSpPr/>
          <p:nvPr/>
        </p:nvSpPr>
        <p:spPr>
          <a:xfrm>
            <a:off x="557784" y="1047902"/>
            <a:ext cx="2810256" cy="4892040"/>
          </a:xfrm>
          <a:prstGeom prst="roundRect">
            <a:avLst>
              <a:gd name="adj" fmla="val 2603"/>
            </a:avLst>
          </a:prstGeom>
          <a:solidFill>
            <a:srgbClr val="1D2838"/>
          </a:solidFill>
          <a:ln/>
        </p:spPr>
        <p:txBody>
          <a:bodyPr/>
          <a:lstStyle/>
          <a:p>
            <a:endParaRPr lang="en-US"/>
          </a:p>
        </p:txBody>
      </p:sp>
      <p:sp>
        <p:nvSpPr>
          <p:cNvPr id="10" name="Shape 8"/>
          <p:cNvSpPr/>
          <p:nvPr/>
        </p:nvSpPr>
        <p:spPr>
          <a:xfrm>
            <a:off x="557784" y="1102766"/>
            <a:ext cx="64008" cy="4782312"/>
          </a:xfrm>
          <a:prstGeom prst="rect">
            <a:avLst/>
          </a:prstGeom>
          <a:solidFill>
            <a:srgbClr val="AEB9C9"/>
          </a:solidFill>
          <a:ln/>
        </p:spPr>
        <p:txBody>
          <a:bodyPr/>
          <a:lstStyle/>
          <a:p>
            <a:endParaRPr lang="en-US"/>
          </a:p>
        </p:txBody>
      </p:sp>
      <p:sp>
        <p:nvSpPr>
          <p:cNvPr id="11" name="Text 9"/>
          <p:cNvSpPr/>
          <p:nvPr/>
        </p:nvSpPr>
        <p:spPr>
          <a:xfrm>
            <a:off x="758952" y="1157630"/>
            <a:ext cx="1686154" cy="320040"/>
          </a:xfrm>
          <a:prstGeom prst="rect">
            <a:avLst/>
          </a:prstGeom>
          <a:noFill/>
          <a:ln/>
        </p:spPr>
        <p:txBody>
          <a:bodyPr wrap="square" lIns="0" tIns="0" rIns="0" bIns="0" rtlCol="0" anchor="ctr"/>
          <a:lstStyle/>
          <a:p>
            <a:pPr marL="0" indent="0">
              <a:buNone/>
            </a:pPr>
            <a:r>
              <a:rPr lang="en-US" sz="1500" b="1" dirty="0">
                <a:solidFill>
                  <a:srgbClr val="AEB9C9"/>
                </a:solidFill>
                <a:latin typeface="Arial" pitchFamily="34" charset="0"/>
                <a:ea typeface="Arial" pitchFamily="34" charset="-122"/>
                <a:cs typeface="Arial" pitchFamily="34" charset="-120"/>
              </a:rPr>
              <a:t>SILVER</a:t>
            </a:r>
            <a:endParaRPr lang="en-US" sz="1500" dirty="0"/>
          </a:p>
        </p:txBody>
      </p:sp>
      <p:sp>
        <p:nvSpPr>
          <p:cNvPr id="12" name="Text 10"/>
          <p:cNvSpPr/>
          <p:nvPr/>
        </p:nvSpPr>
        <p:spPr>
          <a:xfrm>
            <a:off x="1795272" y="1157630"/>
            <a:ext cx="1371600" cy="320040"/>
          </a:xfrm>
          <a:prstGeom prst="rect">
            <a:avLst/>
          </a:prstGeom>
          <a:noFill/>
          <a:ln/>
        </p:spPr>
        <p:txBody>
          <a:bodyPr wrap="square" lIns="0" tIns="0" rIns="0" bIns="0" rtlCol="0" anchor="ctr"/>
          <a:lstStyle/>
          <a:p>
            <a:pPr marL="0" indent="0" algn="r">
              <a:buNone/>
            </a:pPr>
            <a:r>
              <a:rPr lang="en-US" sz="1500" b="1" dirty="0">
                <a:solidFill>
                  <a:srgbClr val="EAEFF6"/>
                </a:solidFill>
                <a:latin typeface="Arial" pitchFamily="34" charset="0"/>
                <a:ea typeface="Arial" pitchFamily="34" charset="-122"/>
                <a:cs typeface="Arial" pitchFamily="34" charset="-120"/>
              </a:rPr>
              <a:t>$6,600</a:t>
            </a:r>
            <a:endParaRPr lang="en-US" sz="1500" dirty="0"/>
          </a:p>
        </p:txBody>
      </p:sp>
      <p:sp>
        <p:nvSpPr>
          <p:cNvPr id="13" name="Shape 11"/>
          <p:cNvSpPr/>
          <p:nvPr/>
        </p:nvSpPr>
        <p:spPr>
          <a:xfrm>
            <a:off x="758952" y="1523390"/>
            <a:ext cx="2407920" cy="0"/>
          </a:xfrm>
          <a:prstGeom prst="line">
            <a:avLst/>
          </a:prstGeom>
          <a:noFill/>
          <a:ln w="9525">
            <a:solidFill>
              <a:srgbClr val="38455E"/>
            </a:solidFill>
            <a:prstDash val="solid"/>
          </a:ln>
        </p:spPr>
        <p:txBody>
          <a:bodyPr/>
          <a:lstStyle/>
          <a:p>
            <a:endParaRPr lang="en-US"/>
          </a:p>
        </p:txBody>
      </p:sp>
      <p:sp>
        <p:nvSpPr>
          <p:cNvPr id="14" name="Text 12"/>
          <p:cNvSpPr/>
          <p:nvPr/>
        </p:nvSpPr>
        <p:spPr>
          <a:xfrm>
            <a:off x="758952" y="1614830"/>
            <a:ext cx="2407920" cy="4206240"/>
          </a:xfrm>
          <a:prstGeom prst="rect">
            <a:avLst/>
          </a:prstGeom>
          <a:noFill/>
          <a:ln/>
        </p:spPr>
        <p:txBody>
          <a:bodyPr wrap="square" lIns="0" tIns="0" rIns="0" bIns="0" rtlCol="0" anchor="t"/>
          <a:lstStyle/>
          <a:p>
            <a:pPr marL="0" indent="0">
              <a:lnSpc>
                <a:spcPct val="108000"/>
              </a:lnSpc>
              <a:spcAft>
                <a:spcPts val="400"/>
              </a:spcAft>
              <a:buNone/>
            </a:pPr>
            <a:r>
              <a:rPr lang="en-US" sz="800" b="1" dirty="0">
                <a:solidFill>
                  <a:srgbClr val="E8762C"/>
                </a:solidFill>
                <a:latin typeface="Arial" pitchFamily="34" charset="0"/>
                <a:ea typeface="Arial" pitchFamily="34" charset="-122"/>
                <a:cs typeface="Arial" pitchFamily="34" charset="-120"/>
              </a:rPr>
              <a:t>SUPPORT ACKNOWLEDGMENTS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Acknowledgment as a Silver Supporter with logo recognition¹ on conference signage and conference webpages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Verbal Acknowledgment as a Silver Supporter at the Opening and Closing sessions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Logo recognition¹ in monthly conference marketing emails leading up to the event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Static advertisement¹ on rotation with other supporters displayed all rooms between all sessions</a:t>
            </a:r>
            <a:endParaRPr lang="en-US" sz="800" dirty="0"/>
          </a:p>
          <a:p>
            <a:pPr marL="0" indent="0">
              <a:lnSpc>
                <a:spcPct val="108000"/>
              </a:lnSpc>
              <a:spcBef>
                <a:spcPts val="800"/>
              </a:spcBef>
              <a:spcAft>
                <a:spcPts val="400"/>
              </a:spcAft>
              <a:buNone/>
            </a:pPr>
            <a:r>
              <a:rPr lang="en-US" sz="800" b="1" dirty="0">
                <a:solidFill>
                  <a:srgbClr val="E8762C"/>
                </a:solidFill>
                <a:latin typeface="Arial" pitchFamily="34" charset="0"/>
                <a:ea typeface="Arial" pitchFamily="34" charset="-122"/>
                <a:cs typeface="Arial" pitchFamily="34" charset="-120"/>
              </a:rPr>
              <a:t>COMMUNITY ENGAGEMENT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Location in the exhibition space, including table, chairs, and access to power</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Ability to place job announcements on job board</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Up to two (2) conference registrations for members of your organization, including the Conference Reception and Banquet</a:t>
            </a:r>
            <a:endParaRPr lang="en-US" sz="800" dirty="0"/>
          </a:p>
        </p:txBody>
      </p:sp>
      <p:sp>
        <p:nvSpPr>
          <p:cNvPr id="15" name="Shape 13"/>
          <p:cNvSpPr/>
          <p:nvPr/>
        </p:nvSpPr>
        <p:spPr>
          <a:xfrm>
            <a:off x="3624072" y="1047902"/>
            <a:ext cx="2810256" cy="4892040"/>
          </a:xfrm>
          <a:prstGeom prst="roundRect">
            <a:avLst>
              <a:gd name="adj" fmla="val 2603"/>
            </a:avLst>
          </a:prstGeom>
          <a:solidFill>
            <a:srgbClr val="1D2838"/>
          </a:solidFill>
          <a:ln/>
        </p:spPr>
        <p:txBody>
          <a:bodyPr/>
          <a:lstStyle/>
          <a:p>
            <a:endParaRPr lang="en-US"/>
          </a:p>
        </p:txBody>
      </p:sp>
      <p:sp>
        <p:nvSpPr>
          <p:cNvPr id="16" name="Shape 14"/>
          <p:cNvSpPr/>
          <p:nvPr/>
        </p:nvSpPr>
        <p:spPr>
          <a:xfrm>
            <a:off x="3624072" y="1102766"/>
            <a:ext cx="64008" cy="4782312"/>
          </a:xfrm>
          <a:prstGeom prst="rect">
            <a:avLst/>
          </a:prstGeom>
          <a:solidFill>
            <a:srgbClr val="C77B4A"/>
          </a:solidFill>
          <a:ln/>
        </p:spPr>
        <p:txBody>
          <a:bodyPr/>
          <a:lstStyle/>
          <a:p>
            <a:endParaRPr lang="en-US"/>
          </a:p>
        </p:txBody>
      </p:sp>
      <p:sp>
        <p:nvSpPr>
          <p:cNvPr id="17" name="Text 15"/>
          <p:cNvSpPr/>
          <p:nvPr/>
        </p:nvSpPr>
        <p:spPr>
          <a:xfrm>
            <a:off x="3825240" y="1157630"/>
            <a:ext cx="1686154" cy="320040"/>
          </a:xfrm>
          <a:prstGeom prst="rect">
            <a:avLst/>
          </a:prstGeom>
          <a:noFill/>
          <a:ln/>
        </p:spPr>
        <p:txBody>
          <a:bodyPr wrap="square" lIns="0" tIns="0" rIns="0" bIns="0" rtlCol="0" anchor="ctr"/>
          <a:lstStyle/>
          <a:p>
            <a:pPr marL="0" indent="0">
              <a:buNone/>
            </a:pPr>
            <a:r>
              <a:rPr lang="en-US" sz="1500" b="1" dirty="0">
                <a:solidFill>
                  <a:srgbClr val="C77B4A"/>
                </a:solidFill>
                <a:latin typeface="Arial" pitchFamily="34" charset="0"/>
                <a:ea typeface="Arial" pitchFamily="34" charset="-122"/>
                <a:cs typeface="Arial" pitchFamily="34" charset="-120"/>
              </a:rPr>
              <a:t>BRONZE</a:t>
            </a:r>
            <a:endParaRPr lang="en-US" sz="1500" dirty="0"/>
          </a:p>
        </p:txBody>
      </p:sp>
      <p:sp>
        <p:nvSpPr>
          <p:cNvPr id="18" name="Text 16"/>
          <p:cNvSpPr/>
          <p:nvPr/>
        </p:nvSpPr>
        <p:spPr>
          <a:xfrm>
            <a:off x="4861560" y="1157630"/>
            <a:ext cx="1371600" cy="320040"/>
          </a:xfrm>
          <a:prstGeom prst="rect">
            <a:avLst/>
          </a:prstGeom>
          <a:noFill/>
          <a:ln/>
        </p:spPr>
        <p:txBody>
          <a:bodyPr wrap="square" lIns="0" tIns="0" rIns="0" bIns="0" rtlCol="0" anchor="ctr"/>
          <a:lstStyle/>
          <a:p>
            <a:pPr marL="0" indent="0" algn="r">
              <a:buNone/>
            </a:pPr>
            <a:r>
              <a:rPr lang="en-US" sz="1500" b="1" dirty="0">
                <a:solidFill>
                  <a:srgbClr val="EAEFF6"/>
                </a:solidFill>
                <a:latin typeface="Arial" pitchFamily="34" charset="0"/>
                <a:ea typeface="Arial" pitchFamily="34" charset="-122"/>
                <a:cs typeface="Arial" pitchFamily="34" charset="-120"/>
              </a:rPr>
              <a:t>$3,300</a:t>
            </a:r>
            <a:endParaRPr lang="en-US" sz="1500" dirty="0"/>
          </a:p>
        </p:txBody>
      </p:sp>
      <p:sp>
        <p:nvSpPr>
          <p:cNvPr id="19" name="Shape 17"/>
          <p:cNvSpPr/>
          <p:nvPr/>
        </p:nvSpPr>
        <p:spPr>
          <a:xfrm>
            <a:off x="3825240" y="1523390"/>
            <a:ext cx="2407920" cy="0"/>
          </a:xfrm>
          <a:prstGeom prst="line">
            <a:avLst/>
          </a:prstGeom>
          <a:noFill/>
          <a:ln w="9525">
            <a:solidFill>
              <a:srgbClr val="38455E"/>
            </a:solidFill>
            <a:prstDash val="solid"/>
          </a:ln>
        </p:spPr>
        <p:txBody>
          <a:bodyPr/>
          <a:lstStyle/>
          <a:p>
            <a:endParaRPr lang="en-US"/>
          </a:p>
        </p:txBody>
      </p:sp>
      <p:sp>
        <p:nvSpPr>
          <p:cNvPr id="20" name="Text 18"/>
          <p:cNvSpPr/>
          <p:nvPr/>
        </p:nvSpPr>
        <p:spPr>
          <a:xfrm>
            <a:off x="3825240" y="1614830"/>
            <a:ext cx="2407920" cy="4206240"/>
          </a:xfrm>
          <a:prstGeom prst="rect">
            <a:avLst/>
          </a:prstGeom>
          <a:noFill/>
          <a:ln/>
        </p:spPr>
        <p:txBody>
          <a:bodyPr wrap="square" lIns="0" tIns="0" rIns="0" bIns="0" rtlCol="0" anchor="t"/>
          <a:lstStyle/>
          <a:p>
            <a:pPr marL="0" indent="0">
              <a:lnSpc>
                <a:spcPct val="108000"/>
              </a:lnSpc>
              <a:spcAft>
                <a:spcPts val="400"/>
              </a:spcAft>
              <a:buNone/>
            </a:pPr>
            <a:r>
              <a:rPr lang="en-US" sz="800" b="1" dirty="0">
                <a:solidFill>
                  <a:srgbClr val="E8762C"/>
                </a:solidFill>
                <a:latin typeface="Arial" pitchFamily="34" charset="0"/>
                <a:ea typeface="Arial" pitchFamily="34" charset="-122"/>
                <a:cs typeface="Arial" pitchFamily="34" charset="-120"/>
              </a:rPr>
              <a:t>SUPPORT ACKNOWLEDGMENTS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Acknowledgment as a Bronze Supporter with logo recognition¹ on conference signage and conference webpages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Verbal Acknowledgment as a Bronze Supporter at the Opening and Closing sessions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Logo recognition¹ in monthly conference marketing emails leading up to the event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Static advertisement¹ on rotation with other supporters displayed all rooms between all sessions</a:t>
            </a:r>
            <a:endParaRPr lang="en-US" sz="800" dirty="0"/>
          </a:p>
          <a:p>
            <a:pPr marL="0" indent="0">
              <a:lnSpc>
                <a:spcPct val="108000"/>
              </a:lnSpc>
              <a:spcBef>
                <a:spcPts val="800"/>
              </a:spcBef>
              <a:spcAft>
                <a:spcPts val="400"/>
              </a:spcAft>
              <a:buNone/>
            </a:pPr>
            <a:r>
              <a:rPr lang="en-US" sz="800" b="1" dirty="0">
                <a:solidFill>
                  <a:srgbClr val="E8762C"/>
                </a:solidFill>
                <a:latin typeface="Arial" pitchFamily="34" charset="0"/>
                <a:ea typeface="Arial" pitchFamily="34" charset="-122"/>
                <a:cs typeface="Arial" pitchFamily="34" charset="-120"/>
              </a:rPr>
              <a:t>COMMUNITY ENGAGEMENT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Ability to place job announcements on job board</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One (1) conference registration for a member of your organization, including the Conference Reception and Banquet</a:t>
            </a:r>
            <a:endParaRPr lang="en-US" sz="800" dirty="0"/>
          </a:p>
        </p:txBody>
      </p:sp>
      <p:sp>
        <p:nvSpPr>
          <p:cNvPr id="21" name="Shape 19"/>
          <p:cNvSpPr/>
          <p:nvPr/>
        </p:nvSpPr>
        <p:spPr>
          <a:xfrm>
            <a:off x="6690360" y="1047902"/>
            <a:ext cx="2810256" cy="4892040"/>
          </a:xfrm>
          <a:prstGeom prst="roundRect">
            <a:avLst>
              <a:gd name="adj" fmla="val 2603"/>
            </a:avLst>
          </a:prstGeom>
          <a:solidFill>
            <a:srgbClr val="1D2838"/>
          </a:solidFill>
          <a:ln/>
        </p:spPr>
        <p:txBody>
          <a:bodyPr/>
          <a:lstStyle/>
          <a:p>
            <a:endParaRPr lang="en-US"/>
          </a:p>
        </p:txBody>
      </p:sp>
      <p:sp>
        <p:nvSpPr>
          <p:cNvPr id="22" name="Shape 20"/>
          <p:cNvSpPr/>
          <p:nvPr/>
        </p:nvSpPr>
        <p:spPr>
          <a:xfrm>
            <a:off x="6690360" y="1102766"/>
            <a:ext cx="64008" cy="4782312"/>
          </a:xfrm>
          <a:prstGeom prst="rect">
            <a:avLst/>
          </a:prstGeom>
          <a:solidFill>
            <a:srgbClr val="6FA8DC"/>
          </a:solidFill>
          <a:ln/>
        </p:spPr>
        <p:txBody>
          <a:bodyPr/>
          <a:lstStyle/>
          <a:p>
            <a:endParaRPr lang="en-US"/>
          </a:p>
        </p:txBody>
      </p:sp>
      <p:sp>
        <p:nvSpPr>
          <p:cNvPr id="23" name="Text 21"/>
          <p:cNvSpPr/>
          <p:nvPr/>
        </p:nvSpPr>
        <p:spPr>
          <a:xfrm>
            <a:off x="6891528" y="1157630"/>
            <a:ext cx="1686154" cy="320040"/>
          </a:xfrm>
          <a:prstGeom prst="rect">
            <a:avLst/>
          </a:prstGeom>
          <a:noFill/>
          <a:ln/>
        </p:spPr>
        <p:txBody>
          <a:bodyPr wrap="square" lIns="0" tIns="0" rIns="0" bIns="0" rtlCol="0" anchor="ctr"/>
          <a:lstStyle/>
          <a:p>
            <a:pPr marL="0" indent="0">
              <a:buNone/>
            </a:pPr>
            <a:r>
              <a:rPr lang="en-US" sz="1500" b="1" dirty="0">
                <a:solidFill>
                  <a:srgbClr val="6FA8DC"/>
                </a:solidFill>
                <a:latin typeface="Arial" pitchFamily="34" charset="0"/>
                <a:ea typeface="Arial" pitchFamily="34" charset="-122"/>
                <a:cs typeface="Arial" pitchFamily="34" charset="-120"/>
              </a:rPr>
              <a:t>ACADEMIC</a:t>
            </a:r>
            <a:endParaRPr lang="en-US" sz="1500" dirty="0"/>
          </a:p>
        </p:txBody>
      </p:sp>
      <p:sp>
        <p:nvSpPr>
          <p:cNvPr id="24" name="Text 22"/>
          <p:cNvSpPr/>
          <p:nvPr/>
        </p:nvSpPr>
        <p:spPr>
          <a:xfrm>
            <a:off x="7927848" y="1157630"/>
            <a:ext cx="1371600" cy="320040"/>
          </a:xfrm>
          <a:prstGeom prst="rect">
            <a:avLst/>
          </a:prstGeom>
          <a:noFill/>
          <a:ln/>
        </p:spPr>
        <p:txBody>
          <a:bodyPr wrap="square" lIns="0" tIns="0" rIns="0" bIns="0" rtlCol="0" anchor="ctr"/>
          <a:lstStyle/>
          <a:p>
            <a:pPr marL="0" indent="0" algn="r">
              <a:buNone/>
            </a:pPr>
            <a:r>
              <a:rPr lang="en-US" sz="1500" b="1" dirty="0">
                <a:solidFill>
                  <a:srgbClr val="EAEFF6"/>
                </a:solidFill>
                <a:latin typeface="Arial" pitchFamily="34" charset="0"/>
                <a:ea typeface="Arial" pitchFamily="34" charset="-122"/>
                <a:cs typeface="Arial" pitchFamily="34" charset="-120"/>
              </a:rPr>
              <a:t>$1,650</a:t>
            </a:r>
            <a:endParaRPr lang="en-US" sz="1500" dirty="0"/>
          </a:p>
        </p:txBody>
      </p:sp>
      <p:sp>
        <p:nvSpPr>
          <p:cNvPr id="25" name="Shape 23"/>
          <p:cNvSpPr/>
          <p:nvPr/>
        </p:nvSpPr>
        <p:spPr>
          <a:xfrm>
            <a:off x="6891528" y="1523390"/>
            <a:ext cx="2407920" cy="0"/>
          </a:xfrm>
          <a:prstGeom prst="line">
            <a:avLst/>
          </a:prstGeom>
          <a:noFill/>
          <a:ln w="9525">
            <a:solidFill>
              <a:srgbClr val="38455E"/>
            </a:solidFill>
            <a:prstDash val="solid"/>
          </a:ln>
        </p:spPr>
        <p:txBody>
          <a:bodyPr/>
          <a:lstStyle/>
          <a:p>
            <a:endParaRPr lang="en-US"/>
          </a:p>
        </p:txBody>
      </p:sp>
      <p:sp>
        <p:nvSpPr>
          <p:cNvPr id="26" name="Text 24"/>
          <p:cNvSpPr/>
          <p:nvPr/>
        </p:nvSpPr>
        <p:spPr>
          <a:xfrm>
            <a:off x="6891528" y="1614830"/>
            <a:ext cx="2407920" cy="4206240"/>
          </a:xfrm>
          <a:prstGeom prst="rect">
            <a:avLst/>
          </a:prstGeom>
          <a:noFill/>
          <a:ln/>
        </p:spPr>
        <p:txBody>
          <a:bodyPr wrap="square" lIns="0" tIns="0" rIns="0" bIns="0" rtlCol="0" anchor="t"/>
          <a:lstStyle/>
          <a:p>
            <a:pPr marL="0" indent="0">
              <a:lnSpc>
                <a:spcPct val="108000"/>
              </a:lnSpc>
              <a:spcAft>
                <a:spcPts val="400"/>
              </a:spcAft>
              <a:buNone/>
            </a:pPr>
            <a:r>
              <a:rPr lang="en-US" sz="800" b="1" dirty="0">
                <a:solidFill>
                  <a:srgbClr val="E8762C"/>
                </a:solidFill>
                <a:latin typeface="Arial" pitchFamily="34" charset="0"/>
                <a:ea typeface="Arial" pitchFamily="34" charset="-122"/>
                <a:cs typeface="Arial" pitchFamily="34" charset="-120"/>
              </a:rPr>
              <a:t>SUPPORT ACKNOWLEDGMENTS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Acknowledgment as a Bronze Supporter with logo recognition¹ on conference signage and conference webpages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Verbal Acknowledgment as a Bronze Supporter at the Opening and Closing sessions</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Logo recognition¹ in monthly conference marketing emails leading up to the event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Static advertisement¹ on rotation with other supporters displayed all rooms between all sessions</a:t>
            </a:r>
            <a:endParaRPr lang="en-US" sz="800" dirty="0"/>
          </a:p>
          <a:p>
            <a:pPr marL="0" indent="0">
              <a:lnSpc>
                <a:spcPct val="108000"/>
              </a:lnSpc>
              <a:spcBef>
                <a:spcPts val="800"/>
              </a:spcBef>
              <a:spcAft>
                <a:spcPts val="400"/>
              </a:spcAft>
              <a:buNone/>
            </a:pPr>
            <a:r>
              <a:rPr lang="en-US" sz="800" b="1" dirty="0">
                <a:solidFill>
                  <a:srgbClr val="E8762C"/>
                </a:solidFill>
                <a:latin typeface="Arial" pitchFamily="34" charset="0"/>
                <a:ea typeface="Arial" pitchFamily="34" charset="-122"/>
                <a:cs typeface="Arial" pitchFamily="34" charset="-120"/>
              </a:rPr>
              <a:t>COMMUNITY ENGAGEMENT</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Ability to place job announcements on job board</a:t>
            </a:r>
            <a:endParaRPr lang="en-US" sz="800" dirty="0"/>
          </a:p>
          <a:p>
            <a:pPr marL="127000" indent="-127000">
              <a:lnSpc>
                <a:spcPct val="108000"/>
              </a:lnSpc>
              <a:spcAft>
                <a:spcPts val="300"/>
              </a:spcAft>
              <a:buSzPct val="100000"/>
              <a:buChar char="•"/>
            </a:pPr>
            <a:r>
              <a:rPr lang="en-US" sz="920" dirty="0">
                <a:solidFill>
                  <a:srgbClr val="9DAAC0"/>
                </a:solidFill>
                <a:latin typeface="Arial" pitchFamily="34" charset="0"/>
                <a:ea typeface="Arial" pitchFamily="34" charset="-122"/>
                <a:cs typeface="Arial" pitchFamily="34" charset="-120"/>
              </a:rPr>
              <a:t>One (1) conference registration for a member of your organization, including the Conference Reception and Banquet</a:t>
            </a:r>
            <a:endParaRPr lang="en-US" sz="800" dirty="0"/>
          </a:p>
        </p:txBody>
      </p:sp>
      <p:sp>
        <p:nvSpPr>
          <p:cNvPr id="27" name="Text 25"/>
          <p:cNvSpPr/>
          <p:nvPr/>
        </p:nvSpPr>
        <p:spPr>
          <a:xfrm>
            <a:off x="6891528" y="5994805"/>
            <a:ext cx="2535936" cy="338617"/>
          </a:xfrm>
          <a:prstGeom prst="rect">
            <a:avLst/>
          </a:prstGeom>
          <a:noFill/>
          <a:ln/>
        </p:spPr>
        <p:txBody>
          <a:bodyPr wrap="square" lIns="0" tIns="0" rIns="0" bIns="0" rtlCol="0" anchor="ctr"/>
          <a:lstStyle/>
          <a:p>
            <a:pPr marL="0" indent="0">
              <a:buNone/>
            </a:pPr>
            <a:r>
              <a:rPr lang="en-US" sz="900" b="1" i="1" dirty="0">
                <a:solidFill>
                  <a:srgbClr val="6FA8DC"/>
                </a:solidFill>
                <a:latin typeface="Arial" pitchFamily="34" charset="0"/>
                <a:ea typeface="Arial" pitchFamily="34" charset="-122"/>
                <a:cs typeface="Arial" pitchFamily="34" charset="-120"/>
              </a:rPr>
              <a:t>Only available for academic and research institutions!</a:t>
            </a:r>
            <a:endParaRPr lang="en-US" sz="900" dirty="0"/>
          </a:p>
        </p:txBody>
      </p:sp>
      <p:sp>
        <p:nvSpPr>
          <p:cNvPr id="28" name="Text 26"/>
          <p:cNvSpPr/>
          <p:nvPr/>
        </p:nvSpPr>
        <p:spPr>
          <a:xfrm>
            <a:off x="557784" y="6995160"/>
            <a:ext cx="8942832" cy="228600"/>
          </a:xfrm>
          <a:prstGeom prst="rect">
            <a:avLst/>
          </a:prstGeom>
          <a:noFill/>
          <a:ln/>
        </p:spPr>
        <p:txBody>
          <a:bodyPr wrap="square" lIns="0" tIns="0" rIns="0" bIns="0" rtlCol="0" anchor="ctr"/>
          <a:lstStyle/>
          <a:p>
            <a:pPr marL="0" indent="0">
              <a:buNone/>
            </a:pPr>
            <a:r>
              <a:rPr lang="en-US" sz="800" i="1" dirty="0">
                <a:solidFill>
                  <a:srgbClr val="9DAAC0"/>
                </a:solidFill>
                <a:latin typeface="Arial" pitchFamily="34" charset="0"/>
                <a:ea typeface="Arial" pitchFamily="34" charset="-122"/>
                <a:cs typeface="Arial" pitchFamily="34" charset="-120"/>
              </a:rPr>
              <a:t>¹ Content, including logos, videos, articles, etc., to be provided by the supporter and subject to the approval of the conference organizers.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SUPPORT ITEMS</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974750"/>
            <a:ext cx="8942832" cy="54864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In addition to support packages, we offer individual support items which you can choose to support VIS 2026. Support items can be purchased together or independently of support packages. For supporters that already purchased a supporter package, discounts on items will be available.</a:t>
            </a:r>
            <a:endParaRPr lang="en-US" sz="1100" dirty="0"/>
          </a:p>
        </p:txBody>
      </p:sp>
      <p:sp>
        <p:nvSpPr>
          <p:cNvPr id="10" name="Shape 8"/>
          <p:cNvSpPr/>
          <p:nvPr/>
        </p:nvSpPr>
        <p:spPr>
          <a:xfrm>
            <a:off x="557784" y="1660550"/>
            <a:ext cx="4329684" cy="1349654"/>
          </a:xfrm>
          <a:prstGeom prst="roundRect">
            <a:avLst>
              <a:gd name="adj" fmla="val 4321"/>
            </a:avLst>
          </a:prstGeom>
          <a:solidFill>
            <a:srgbClr val="1D2838"/>
          </a:solidFill>
          <a:ln/>
        </p:spPr>
        <p:txBody>
          <a:bodyPr/>
          <a:lstStyle/>
          <a:p>
            <a:endParaRPr lang="en-US"/>
          </a:p>
        </p:txBody>
      </p:sp>
      <p:sp>
        <p:nvSpPr>
          <p:cNvPr id="11" name="Shape 9"/>
          <p:cNvSpPr/>
          <p:nvPr/>
        </p:nvSpPr>
        <p:spPr>
          <a:xfrm>
            <a:off x="557784" y="1660550"/>
            <a:ext cx="51206" cy="1353312"/>
          </a:xfrm>
          <a:prstGeom prst="rect">
            <a:avLst/>
          </a:prstGeom>
          <a:solidFill>
            <a:srgbClr val="E8762C"/>
          </a:solidFill>
          <a:ln/>
        </p:spPr>
        <p:txBody>
          <a:bodyPr/>
          <a:lstStyle/>
          <a:p>
            <a:endParaRPr lang="en-US"/>
          </a:p>
        </p:txBody>
      </p:sp>
      <p:sp>
        <p:nvSpPr>
          <p:cNvPr id="12" name="Text 10"/>
          <p:cNvSpPr/>
          <p:nvPr/>
        </p:nvSpPr>
        <p:spPr>
          <a:xfrm>
            <a:off x="740664" y="1742846"/>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TABLE IN EXHIBITION SPACE</a:t>
            </a:r>
            <a:endParaRPr lang="en-US" sz="1000" dirty="0"/>
          </a:p>
        </p:txBody>
      </p:sp>
      <p:sp>
        <p:nvSpPr>
          <p:cNvPr id="13" name="Text 11"/>
          <p:cNvSpPr/>
          <p:nvPr/>
        </p:nvSpPr>
        <p:spPr>
          <a:xfrm>
            <a:off x="3835908" y="1742846"/>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$1,000</a:t>
            </a:r>
            <a:endParaRPr lang="en-US" sz="1200" dirty="0"/>
          </a:p>
        </p:txBody>
      </p:sp>
      <p:sp>
        <p:nvSpPr>
          <p:cNvPr id="14" name="Text 12"/>
          <p:cNvSpPr/>
          <p:nvPr/>
        </p:nvSpPr>
        <p:spPr>
          <a:xfrm>
            <a:off x="740664" y="2136038"/>
            <a:ext cx="3963924" cy="91440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Use this opportunity to reserve a table for your organization in the conference exhibition space. The support item includes a table, chairs, and access to power. The exhibition space is in the entrance hall, where coffee breaks will be held during the day. This item is not relevant for supporters who already purchased a supporters package.</a:t>
            </a:r>
            <a:endParaRPr lang="en-US" sz="880" dirty="0"/>
          </a:p>
        </p:txBody>
      </p:sp>
      <p:grpSp>
        <p:nvGrpSpPr>
          <p:cNvPr id="49" name="Group 48">
            <a:extLst>
              <a:ext uri="{FF2B5EF4-FFF2-40B4-BE49-F238E27FC236}">
                <a16:creationId xmlns:a16="http://schemas.microsoft.com/office/drawing/2014/main" id="{0BAE9B12-42A0-116A-12FA-90AA1A7BF705}"/>
              </a:ext>
            </a:extLst>
          </p:cNvPr>
          <p:cNvGrpSpPr/>
          <p:nvPr/>
        </p:nvGrpSpPr>
        <p:grpSpPr>
          <a:xfrm>
            <a:off x="557784" y="3150569"/>
            <a:ext cx="4329684" cy="1389888"/>
            <a:chOff x="557784" y="3297326"/>
            <a:chExt cx="4329684" cy="1389888"/>
          </a:xfrm>
        </p:grpSpPr>
        <p:grpSp>
          <p:nvGrpSpPr>
            <p:cNvPr id="48" name="Group 47">
              <a:extLst>
                <a:ext uri="{FF2B5EF4-FFF2-40B4-BE49-F238E27FC236}">
                  <a16:creationId xmlns:a16="http://schemas.microsoft.com/office/drawing/2014/main" id="{F28B49B3-EDEA-6604-996D-62959929CA30}"/>
                </a:ext>
              </a:extLst>
            </p:cNvPr>
            <p:cNvGrpSpPr/>
            <p:nvPr/>
          </p:nvGrpSpPr>
          <p:grpSpPr>
            <a:xfrm>
              <a:off x="557784" y="3297326"/>
              <a:ext cx="4329684" cy="1188720"/>
              <a:chOff x="557784" y="3297326"/>
              <a:chExt cx="4329684" cy="1188720"/>
            </a:xfrm>
          </p:grpSpPr>
          <p:sp>
            <p:nvSpPr>
              <p:cNvPr id="15" name="Shape 13"/>
              <p:cNvSpPr/>
              <p:nvPr/>
            </p:nvSpPr>
            <p:spPr>
              <a:xfrm>
                <a:off x="557784" y="3297326"/>
                <a:ext cx="4329684" cy="1188720"/>
              </a:xfrm>
              <a:prstGeom prst="roundRect">
                <a:avLst>
                  <a:gd name="adj" fmla="val 4321"/>
                </a:avLst>
              </a:prstGeom>
              <a:solidFill>
                <a:srgbClr val="1D2838"/>
              </a:solidFill>
              <a:ln/>
            </p:spPr>
            <p:txBody>
              <a:bodyPr/>
              <a:lstStyle/>
              <a:p>
                <a:endParaRPr lang="en-US"/>
              </a:p>
            </p:txBody>
          </p:sp>
          <p:sp>
            <p:nvSpPr>
              <p:cNvPr id="16" name="Shape 14"/>
              <p:cNvSpPr/>
              <p:nvPr/>
            </p:nvSpPr>
            <p:spPr>
              <a:xfrm>
                <a:off x="557784" y="3297326"/>
                <a:ext cx="51206" cy="1188720"/>
              </a:xfrm>
              <a:prstGeom prst="rect">
                <a:avLst/>
              </a:prstGeom>
              <a:solidFill>
                <a:srgbClr val="E8762C"/>
              </a:solidFill>
              <a:ln/>
            </p:spPr>
            <p:txBody>
              <a:bodyPr/>
              <a:lstStyle/>
              <a:p>
                <a:endParaRPr lang="en-US"/>
              </a:p>
            </p:txBody>
          </p:sp>
          <p:sp>
            <p:nvSpPr>
              <p:cNvPr id="17" name="Text 15"/>
              <p:cNvSpPr/>
              <p:nvPr/>
            </p:nvSpPr>
            <p:spPr>
              <a:xfrm>
                <a:off x="740664" y="3379622"/>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DEDICATED DIVERSITY, INCLUSIVITY, AND ACCESSIBILITY SUPPORTER</a:t>
                </a:r>
                <a:endParaRPr lang="en-US" sz="1000" dirty="0"/>
              </a:p>
            </p:txBody>
          </p:sp>
          <p:sp>
            <p:nvSpPr>
              <p:cNvPr id="18" name="Text 16"/>
              <p:cNvSpPr/>
              <p:nvPr/>
            </p:nvSpPr>
            <p:spPr>
              <a:xfrm>
                <a:off x="3835908" y="3379622"/>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$5,000</a:t>
                </a:r>
                <a:endParaRPr lang="en-US" sz="1200" dirty="0"/>
              </a:p>
            </p:txBody>
          </p:sp>
        </p:grpSp>
        <p:sp>
          <p:nvSpPr>
            <p:cNvPr id="19" name="Text 17"/>
            <p:cNvSpPr/>
            <p:nvPr/>
          </p:nvSpPr>
          <p:spPr>
            <a:xfrm>
              <a:off x="740664" y="3772814"/>
              <a:ext cx="3963924" cy="91440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As a dedicated diversity, inclusivity, and accessibility supporter, you can ensure that their entire donation will be exclusively earmarked for diversity, inclusion, and accessibility. Further, you will have your additional support of diversity highlighted in all signage, website, e-mail, and verbal acknowledgments.</a:t>
              </a:r>
              <a:endParaRPr lang="en-US" sz="880" dirty="0"/>
            </a:p>
          </p:txBody>
        </p:sp>
      </p:grpSp>
      <p:grpSp>
        <p:nvGrpSpPr>
          <p:cNvPr id="47" name="Group 46">
            <a:extLst>
              <a:ext uri="{FF2B5EF4-FFF2-40B4-BE49-F238E27FC236}">
                <a16:creationId xmlns:a16="http://schemas.microsoft.com/office/drawing/2014/main" id="{66E5FC45-CD9F-0E3C-BE1F-83375FB0949D}"/>
              </a:ext>
            </a:extLst>
          </p:cNvPr>
          <p:cNvGrpSpPr/>
          <p:nvPr/>
        </p:nvGrpSpPr>
        <p:grpSpPr>
          <a:xfrm>
            <a:off x="557784" y="4458848"/>
            <a:ext cx="4329684" cy="1078992"/>
            <a:chOff x="557784" y="4934102"/>
            <a:chExt cx="4329684" cy="1078992"/>
          </a:xfrm>
        </p:grpSpPr>
        <p:sp>
          <p:nvSpPr>
            <p:cNvPr id="20" name="Shape 18"/>
            <p:cNvSpPr/>
            <p:nvPr/>
          </p:nvSpPr>
          <p:spPr>
            <a:xfrm>
              <a:off x="557784" y="4934102"/>
              <a:ext cx="4329684" cy="1038755"/>
            </a:xfrm>
            <a:prstGeom prst="roundRect">
              <a:avLst>
                <a:gd name="adj" fmla="val 5469"/>
              </a:avLst>
            </a:prstGeom>
            <a:solidFill>
              <a:srgbClr val="1D2838"/>
            </a:solidFill>
            <a:ln/>
          </p:spPr>
          <p:txBody>
            <a:bodyPr/>
            <a:lstStyle/>
            <a:p>
              <a:endParaRPr lang="en-US"/>
            </a:p>
          </p:txBody>
        </p:sp>
        <p:sp>
          <p:nvSpPr>
            <p:cNvPr id="21" name="Shape 19"/>
            <p:cNvSpPr/>
            <p:nvPr/>
          </p:nvSpPr>
          <p:spPr>
            <a:xfrm>
              <a:off x="557784" y="4934102"/>
              <a:ext cx="51206" cy="1042416"/>
            </a:xfrm>
            <a:prstGeom prst="rect">
              <a:avLst/>
            </a:prstGeom>
            <a:solidFill>
              <a:srgbClr val="E8762C"/>
            </a:solidFill>
            <a:ln/>
          </p:spPr>
          <p:txBody>
            <a:bodyPr/>
            <a:lstStyle/>
            <a:p>
              <a:endParaRPr lang="en-US"/>
            </a:p>
          </p:txBody>
        </p:sp>
        <p:sp>
          <p:nvSpPr>
            <p:cNvPr id="22" name="Text 20"/>
            <p:cNvSpPr/>
            <p:nvPr/>
          </p:nvSpPr>
          <p:spPr>
            <a:xfrm>
              <a:off x="740664" y="5016398"/>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VISAP ART PROGRAM SUPPORTER</a:t>
              </a:r>
              <a:endParaRPr lang="en-US" sz="1000" dirty="0"/>
            </a:p>
          </p:txBody>
        </p:sp>
        <p:sp>
          <p:nvSpPr>
            <p:cNvPr id="23" name="Text 21"/>
            <p:cNvSpPr/>
            <p:nvPr/>
          </p:nvSpPr>
          <p:spPr>
            <a:xfrm>
              <a:off x="3835908" y="5016398"/>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$1,000</a:t>
              </a:r>
              <a:endParaRPr lang="en-US" sz="1200" dirty="0"/>
            </a:p>
          </p:txBody>
        </p:sp>
        <p:sp>
          <p:nvSpPr>
            <p:cNvPr id="24" name="Text 22"/>
            <p:cNvSpPr/>
            <p:nvPr/>
          </p:nvSpPr>
          <p:spPr>
            <a:xfrm>
              <a:off x="740664" y="5409590"/>
              <a:ext cx="3963924" cy="603504"/>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By supporting the VISAP arts program, the conference VISAP reception will be branded with their organization. You will receive additional acknowledgment on the website, e-mails, and verbal acknowledgments of support.</a:t>
              </a:r>
              <a:endParaRPr lang="en-US" sz="880" dirty="0"/>
            </a:p>
          </p:txBody>
        </p:sp>
      </p:grpSp>
      <p:sp>
        <p:nvSpPr>
          <p:cNvPr id="25" name="Text 23"/>
          <p:cNvSpPr/>
          <p:nvPr/>
        </p:nvSpPr>
        <p:spPr>
          <a:xfrm>
            <a:off x="5353812" y="7127717"/>
            <a:ext cx="4329684" cy="228600"/>
          </a:xfrm>
          <a:prstGeom prst="rect">
            <a:avLst/>
          </a:prstGeom>
          <a:noFill/>
          <a:ln/>
        </p:spPr>
        <p:txBody>
          <a:bodyPr wrap="square" lIns="0" tIns="0" rIns="0" bIns="0" rtlCol="0" anchor="ctr"/>
          <a:lstStyle/>
          <a:p>
            <a:pPr marL="0" indent="0">
              <a:buNone/>
            </a:pPr>
            <a:r>
              <a:rPr lang="en-US" sz="850" i="1" dirty="0">
                <a:solidFill>
                  <a:srgbClr val="9DAAC0"/>
                </a:solidFill>
                <a:latin typeface="Arial" pitchFamily="34" charset="0"/>
                <a:ea typeface="Arial" pitchFamily="34" charset="-122"/>
                <a:cs typeface="Arial" pitchFamily="34" charset="-120"/>
              </a:rPr>
              <a:t>* Discounts for supporters who already purchased a supporters package.</a:t>
            </a:r>
            <a:endParaRPr lang="en-US" sz="850" dirty="0"/>
          </a:p>
        </p:txBody>
      </p:sp>
      <p:sp>
        <p:nvSpPr>
          <p:cNvPr id="26" name="Shape 24"/>
          <p:cNvSpPr/>
          <p:nvPr/>
        </p:nvSpPr>
        <p:spPr>
          <a:xfrm>
            <a:off x="5170932" y="1660550"/>
            <a:ext cx="4329684" cy="1481328"/>
          </a:xfrm>
          <a:prstGeom prst="roundRect">
            <a:avLst>
              <a:gd name="adj" fmla="val 4321"/>
            </a:avLst>
          </a:prstGeom>
          <a:solidFill>
            <a:srgbClr val="1D2838"/>
          </a:solidFill>
          <a:ln/>
        </p:spPr>
        <p:txBody>
          <a:bodyPr/>
          <a:lstStyle/>
          <a:p>
            <a:endParaRPr lang="en-US"/>
          </a:p>
        </p:txBody>
      </p:sp>
      <p:sp>
        <p:nvSpPr>
          <p:cNvPr id="27" name="Shape 25"/>
          <p:cNvSpPr/>
          <p:nvPr/>
        </p:nvSpPr>
        <p:spPr>
          <a:xfrm>
            <a:off x="5170932" y="1660550"/>
            <a:ext cx="51206" cy="1481328"/>
          </a:xfrm>
          <a:prstGeom prst="rect">
            <a:avLst/>
          </a:prstGeom>
          <a:solidFill>
            <a:srgbClr val="E8762C"/>
          </a:solidFill>
          <a:ln/>
        </p:spPr>
        <p:txBody>
          <a:bodyPr/>
          <a:lstStyle/>
          <a:p>
            <a:endParaRPr lang="en-US"/>
          </a:p>
        </p:txBody>
      </p:sp>
      <p:sp>
        <p:nvSpPr>
          <p:cNvPr id="28" name="Text 26"/>
          <p:cNvSpPr/>
          <p:nvPr/>
        </p:nvSpPr>
        <p:spPr>
          <a:xfrm>
            <a:off x="5353812" y="1742846"/>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EXCLUSIVE CONFERENCE BANQUET SUPPORTER</a:t>
            </a:r>
            <a:endParaRPr lang="en-US" sz="1000" dirty="0"/>
          </a:p>
        </p:txBody>
      </p:sp>
      <p:sp>
        <p:nvSpPr>
          <p:cNvPr id="29" name="Text 27"/>
          <p:cNvSpPr/>
          <p:nvPr/>
        </p:nvSpPr>
        <p:spPr>
          <a:xfrm>
            <a:off x="8449056" y="1742846"/>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$7,000 *</a:t>
            </a:r>
            <a:endParaRPr lang="en-US" sz="1200" dirty="0"/>
          </a:p>
        </p:txBody>
      </p:sp>
      <p:sp>
        <p:nvSpPr>
          <p:cNvPr id="30" name="Text 28"/>
          <p:cNvSpPr/>
          <p:nvPr/>
        </p:nvSpPr>
        <p:spPr>
          <a:xfrm>
            <a:off x="5353812" y="2136038"/>
            <a:ext cx="3963924" cy="91440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As an exclusive conference banquet supporter, you can have the conference banquet branded with their organization. All programming, signage, and ticketing about the reception will include their branding. You will receive additional acknowledgment on the website, e-mails, and verbal acknowledgments of support. This is an exclusive opportunity that will be first-come, first-serve.</a:t>
            </a:r>
            <a:endParaRPr lang="en-US" sz="880" dirty="0"/>
          </a:p>
        </p:txBody>
      </p:sp>
      <p:sp>
        <p:nvSpPr>
          <p:cNvPr id="31" name="Shape 29"/>
          <p:cNvSpPr/>
          <p:nvPr/>
        </p:nvSpPr>
        <p:spPr>
          <a:xfrm>
            <a:off x="5170932" y="3303531"/>
            <a:ext cx="4329684" cy="1389888"/>
          </a:xfrm>
          <a:prstGeom prst="roundRect">
            <a:avLst>
              <a:gd name="adj" fmla="val 4321"/>
            </a:avLst>
          </a:prstGeom>
          <a:solidFill>
            <a:srgbClr val="1D2838"/>
          </a:solidFill>
          <a:ln/>
        </p:spPr>
        <p:txBody>
          <a:bodyPr/>
          <a:lstStyle/>
          <a:p>
            <a:endParaRPr lang="en-US"/>
          </a:p>
        </p:txBody>
      </p:sp>
      <p:sp>
        <p:nvSpPr>
          <p:cNvPr id="32" name="Shape 30"/>
          <p:cNvSpPr/>
          <p:nvPr/>
        </p:nvSpPr>
        <p:spPr>
          <a:xfrm>
            <a:off x="5170932" y="3303531"/>
            <a:ext cx="51206" cy="1389888"/>
          </a:xfrm>
          <a:prstGeom prst="rect">
            <a:avLst/>
          </a:prstGeom>
          <a:solidFill>
            <a:srgbClr val="E8762C"/>
          </a:solidFill>
          <a:ln/>
        </p:spPr>
        <p:txBody>
          <a:bodyPr/>
          <a:lstStyle/>
          <a:p>
            <a:endParaRPr lang="en-US"/>
          </a:p>
        </p:txBody>
      </p:sp>
      <p:sp>
        <p:nvSpPr>
          <p:cNvPr id="33" name="Text 31"/>
          <p:cNvSpPr/>
          <p:nvPr/>
        </p:nvSpPr>
        <p:spPr>
          <a:xfrm>
            <a:off x="5353812" y="3385827"/>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EXCLUSIVE CONFERENCE RECEPTION SUPPORTER</a:t>
            </a:r>
            <a:endParaRPr lang="en-US" sz="1000" dirty="0"/>
          </a:p>
        </p:txBody>
      </p:sp>
      <p:sp>
        <p:nvSpPr>
          <p:cNvPr id="34" name="Text 32"/>
          <p:cNvSpPr/>
          <p:nvPr/>
        </p:nvSpPr>
        <p:spPr>
          <a:xfrm>
            <a:off x="8449056" y="3385827"/>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$5,000 *</a:t>
            </a:r>
            <a:endParaRPr lang="en-US" sz="1200" dirty="0"/>
          </a:p>
        </p:txBody>
      </p:sp>
      <p:sp>
        <p:nvSpPr>
          <p:cNvPr id="35" name="Text 33"/>
          <p:cNvSpPr/>
          <p:nvPr/>
        </p:nvSpPr>
        <p:spPr>
          <a:xfrm>
            <a:off x="5353812" y="3779019"/>
            <a:ext cx="3963924" cy="91440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As an exclusive reception supporter, you will have the conference reception branded with their organization. All programming, signage, and ticketing about the reception will include their branding. You will receive additional acknowledgment on the website, e-mails, and verbal acknowledgments of support. This is an exclusive opportunity that will be first-come, first-serve.</a:t>
            </a:r>
            <a:endParaRPr lang="en-US" sz="880" dirty="0"/>
          </a:p>
        </p:txBody>
      </p:sp>
      <p:grpSp>
        <p:nvGrpSpPr>
          <p:cNvPr id="50" name="Group 49">
            <a:extLst>
              <a:ext uri="{FF2B5EF4-FFF2-40B4-BE49-F238E27FC236}">
                <a16:creationId xmlns:a16="http://schemas.microsoft.com/office/drawing/2014/main" id="{ED0CDCCF-814B-620F-0C77-BF8E7A58036F}"/>
              </a:ext>
            </a:extLst>
          </p:cNvPr>
          <p:cNvGrpSpPr/>
          <p:nvPr/>
        </p:nvGrpSpPr>
        <p:grpSpPr>
          <a:xfrm>
            <a:off x="5170932" y="4863765"/>
            <a:ext cx="4329684" cy="2096755"/>
            <a:chOff x="5170932" y="4934102"/>
            <a:chExt cx="4329684" cy="2096755"/>
          </a:xfrm>
        </p:grpSpPr>
        <p:sp>
          <p:nvSpPr>
            <p:cNvPr id="36" name="Shape 34"/>
            <p:cNvSpPr/>
            <p:nvPr/>
          </p:nvSpPr>
          <p:spPr>
            <a:xfrm>
              <a:off x="5170932" y="4934102"/>
              <a:ext cx="4329684" cy="2096755"/>
            </a:xfrm>
            <a:prstGeom prst="roundRect">
              <a:avLst>
                <a:gd name="adj" fmla="val 2893"/>
              </a:avLst>
            </a:prstGeom>
            <a:solidFill>
              <a:srgbClr val="1D2838"/>
            </a:solidFill>
            <a:ln/>
          </p:spPr>
          <p:txBody>
            <a:bodyPr/>
            <a:lstStyle/>
            <a:p>
              <a:endParaRPr lang="en-US"/>
            </a:p>
          </p:txBody>
        </p:sp>
        <p:sp>
          <p:nvSpPr>
            <p:cNvPr id="37" name="Shape 35"/>
            <p:cNvSpPr/>
            <p:nvPr/>
          </p:nvSpPr>
          <p:spPr>
            <a:xfrm>
              <a:off x="5170932" y="4934102"/>
              <a:ext cx="51206" cy="2093976"/>
            </a:xfrm>
            <a:prstGeom prst="rect">
              <a:avLst/>
            </a:prstGeom>
            <a:solidFill>
              <a:srgbClr val="E8762C"/>
            </a:solidFill>
            <a:ln/>
          </p:spPr>
          <p:txBody>
            <a:bodyPr/>
            <a:lstStyle/>
            <a:p>
              <a:endParaRPr lang="en-US"/>
            </a:p>
          </p:txBody>
        </p:sp>
        <p:sp>
          <p:nvSpPr>
            <p:cNvPr id="38" name="Text 36"/>
            <p:cNvSpPr/>
            <p:nvPr/>
          </p:nvSpPr>
          <p:spPr>
            <a:xfrm>
              <a:off x="5353812" y="5016398"/>
              <a:ext cx="3095244" cy="411480"/>
            </a:xfrm>
            <a:prstGeom prst="rect">
              <a:avLst/>
            </a:prstGeom>
            <a:noFill/>
            <a:ln/>
          </p:spPr>
          <p:txBody>
            <a:bodyPr wrap="square" lIns="0" tIns="0" rIns="0" bIns="0" rtlCol="0" anchor="t"/>
            <a:lstStyle/>
            <a:p>
              <a:pPr marL="0" indent="0">
                <a:lnSpc>
                  <a:spcPct val="105000"/>
                </a:lnSpc>
                <a:buNone/>
              </a:pPr>
              <a:r>
                <a:rPr lang="en-US" sz="1000" b="1" i="1" dirty="0">
                  <a:solidFill>
                    <a:srgbClr val="EAEFF6"/>
                  </a:solidFill>
                  <a:latin typeface="Arial" pitchFamily="34" charset="0"/>
                  <a:ea typeface="Arial" pitchFamily="34" charset="-122"/>
                  <a:cs typeface="Arial" pitchFamily="34" charset="-120"/>
                </a:rPr>
                <a:t>CLUSTER</a:t>
              </a:r>
              <a:r>
                <a:rPr lang="en-US" sz="1000" b="1" dirty="0">
                  <a:solidFill>
                    <a:srgbClr val="EAEFF6"/>
                  </a:solidFill>
                  <a:latin typeface="Arial" pitchFamily="34" charset="0"/>
                  <a:ea typeface="Arial" pitchFamily="34" charset="-122"/>
                  <a:cs typeface="Arial" pitchFamily="34" charset="-120"/>
                </a:rPr>
                <a:t>: THE PRACTITIONER'S SUMMIT AT VIS</a:t>
              </a:r>
              <a:endParaRPr lang="en-US" sz="1000" dirty="0"/>
            </a:p>
          </p:txBody>
        </p:sp>
        <p:sp>
          <p:nvSpPr>
            <p:cNvPr id="39" name="Text 37"/>
            <p:cNvSpPr/>
            <p:nvPr/>
          </p:nvSpPr>
          <p:spPr>
            <a:xfrm>
              <a:off x="8449056" y="5016398"/>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$2,000 +</a:t>
              </a:r>
              <a:endParaRPr lang="en-US" sz="1200" dirty="0"/>
            </a:p>
          </p:txBody>
        </p:sp>
        <p:sp>
          <p:nvSpPr>
            <p:cNvPr id="40" name="Text 38"/>
            <p:cNvSpPr/>
            <p:nvPr/>
          </p:nvSpPr>
          <p:spPr>
            <a:xfrm>
              <a:off x="5353812" y="5298917"/>
              <a:ext cx="3963924" cy="164592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Supporting the </a:t>
              </a:r>
              <a:r>
                <a:rPr lang="en-US" sz="880" i="1" dirty="0">
                  <a:solidFill>
                    <a:srgbClr val="9DAAC0"/>
                  </a:solidFill>
                  <a:latin typeface="Arial" pitchFamily="34" charset="0"/>
                  <a:ea typeface="Arial" pitchFamily="34" charset="-122"/>
                  <a:cs typeface="Arial" pitchFamily="34" charset="-120"/>
                </a:rPr>
                <a:t>Cluster</a:t>
              </a:r>
              <a:r>
                <a:rPr lang="en-US" sz="880" dirty="0">
                  <a:solidFill>
                    <a:srgbClr val="9DAAC0"/>
                  </a:solidFill>
                  <a:latin typeface="Arial" pitchFamily="34" charset="0"/>
                  <a:ea typeface="Arial" pitchFamily="34" charset="-122"/>
                  <a:cs typeface="Arial" pitchFamily="34" charset="-120"/>
                </a:rPr>
                <a:t>: Practitioner's Summit, connects you directly with data analysts, visualization engineers, designers, freelancers, consultants, and researchers, discussing the state of the data visualization market, new tools and workflows, and the biggest open problems facing data visualization practitioners today. As a </a:t>
              </a:r>
              <a:r>
                <a:rPr lang="en-US" sz="880" i="1" dirty="0">
                  <a:solidFill>
                    <a:srgbClr val="9DAAC0"/>
                  </a:solidFill>
                  <a:latin typeface="Arial" pitchFamily="34" charset="0"/>
                  <a:ea typeface="Arial" pitchFamily="34" charset="-122"/>
                  <a:cs typeface="Arial" pitchFamily="34" charset="-120"/>
                </a:rPr>
                <a:t>Cluster</a:t>
              </a:r>
              <a:r>
                <a:rPr lang="en-US" sz="880" dirty="0">
                  <a:solidFill>
                    <a:srgbClr val="9DAAC0"/>
                  </a:solidFill>
                  <a:latin typeface="Arial" pitchFamily="34" charset="0"/>
                  <a:ea typeface="Arial" pitchFamily="34" charset="-122"/>
                  <a:cs typeface="Arial" pitchFamily="34" charset="-120"/>
                </a:rPr>
                <a:t> supporter, you receive a 3-minute slot to pitch your latest tools, work, or research during our lightning talk session, as well as sponsored branding on the </a:t>
              </a:r>
              <a:r>
                <a:rPr lang="en-US" sz="880" i="1" dirty="0">
                  <a:solidFill>
                    <a:srgbClr val="9DAAC0"/>
                  </a:solidFill>
                  <a:latin typeface="Arial" pitchFamily="34" charset="0"/>
                  <a:ea typeface="Arial" pitchFamily="34" charset="-122"/>
                  <a:cs typeface="Arial" pitchFamily="34" charset="-120"/>
                </a:rPr>
                <a:t>Cluster</a:t>
              </a:r>
              <a:r>
                <a:rPr lang="en-US" sz="880" dirty="0">
                  <a:solidFill>
                    <a:srgbClr val="9DAAC0"/>
                  </a:solidFill>
                  <a:latin typeface="Arial" pitchFamily="34" charset="0"/>
                  <a:ea typeface="Arial" pitchFamily="34" charset="-122"/>
                  <a:cs typeface="Arial" pitchFamily="34" charset="-120"/>
                </a:rPr>
                <a:t> website, emails, and a verbal acknowledgment of support during our programming. This support package is a great opportunity to reach a crowd that extends beyond academia, and to drive visitors to your table in the exhibition space. This package is only available for Platinum and Gold supporters at this time.</a:t>
              </a:r>
              <a:endParaRPr lang="en-US" sz="880" dirty="0"/>
            </a:p>
          </p:txBody>
        </p:sp>
      </p:grpSp>
      <p:grpSp>
        <p:nvGrpSpPr>
          <p:cNvPr id="46" name="Group 45">
            <a:extLst>
              <a:ext uri="{FF2B5EF4-FFF2-40B4-BE49-F238E27FC236}">
                <a16:creationId xmlns:a16="http://schemas.microsoft.com/office/drawing/2014/main" id="{C126D09C-F412-9414-156C-3A7473F97DD9}"/>
              </a:ext>
            </a:extLst>
          </p:cNvPr>
          <p:cNvGrpSpPr/>
          <p:nvPr/>
        </p:nvGrpSpPr>
        <p:grpSpPr>
          <a:xfrm>
            <a:off x="557784" y="5703407"/>
            <a:ext cx="4329684" cy="1481328"/>
            <a:chOff x="10248138" y="4239158"/>
            <a:chExt cx="4329684" cy="1481328"/>
          </a:xfrm>
        </p:grpSpPr>
        <p:sp>
          <p:nvSpPr>
            <p:cNvPr id="41" name="Shape 24">
              <a:extLst>
                <a:ext uri="{FF2B5EF4-FFF2-40B4-BE49-F238E27FC236}">
                  <a16:creationId xmlns:a16="http://schemas.microsoft.com/office/drawing/2014/main" id="{02851794-6803-D932-2FE4-95BE881C1A37}"/>
                </a:ext>
              </a:extLst>
            </p:cNvPr>
            <p:cNvSpPr/>
            <p:nvPr/>
          </p:nvSpPr>
          <p:spPr>
            <a:xfrm>
              <a:off x="10248138" y="4239158"/>
              <a:ext cx="4329684" cy="1481328"/>
            </a:xfrm>
            <a:prstGeom prst="roundRect">
              <a:avLst>
                <a:gd name="adj" fmla="val 4321"/>
              </a:avLst>
            </a:prstGeom>
            <a:solidFill>
              <a:srgbClr val="1D2838"/>
            </a:solidFill>
            <a:ln/>
          </p:spPr>
          <p:txBody>
            <a:bodyPr/>
            <a:lstStyle/>
            <a:p>
              <a:endParaRPr lang="en-US"/>
            </a:p>
          </p:txBody>
        </p:sp>
        <p:sp>
          <p:nvSpPr>
            <p:cNvPr id="42" name="Shape 25">
              <a:extLst>
                <a:ext uri="{FF2B5EF4-FFF2-40B4-BE49-F238E27FC236}">
                  <a16:creationId xmlns:a16="http://schemas.microsoft.com/office/drawing/2014/main" id="{96F3DDDE-7DD3-A931-211A-A0B220701219}"/>
                </a:ext>
              </a:extLst>
            </p:cNvPr>
            <p:cNvSpPr/>
            <p:nvPr/>
          </p:nvSpPr>
          <p:spPr>
            <a:xfrm>
              <a:off x="10248138" y="4239158"/>
              <a:ext cx="51206" cy="1481328"/>
            </a:xfrm>
            <a:prstGeom prst="rect">
              <a:avLst/>
            </a:prstGeom>
            <a:solidFill>
              <a:srgbClr val="E8762C"/>
            </a:solidFill>
            <a:ln/>
          </p:spPr>
          <p:txBody>
            <a:bodyPr/>
            <a:lstStyle/>
            <a:p>
              <a:endParaRPr lang="en-US"/>
            </a:p>
          </p:txBody>
        </p:sp>
        <p:sp>
          <p:nvSpPr>
            <p:cNvPr id="43" name="Text 26">
              <a:extLst>
                <a:ext uri="{FF2B5EF4-FFF2-40B4-BE49-F238E27FC236}">
                  <a16:creationId xmlns:a16="http://schemas.microsoft.com/office/drawing/2014/main" id="{64A88ECA-1696-A02B-7ED0-72609840CD05}"/>
                </a:ext>
              </a:extLst>
            </p:cNvPr>
            <p:cNvSpPr/>
            <p:nvPr/>
          </p:nvSpPr>
          <p:spPr>
            <a:xfrm>
              <a:off x="10431018" y="4321454"/>
              <a:ext cx="3095244" cy="411480"/>
            </a:xfrm>
            <a:prstGeom prst="rect">
              <a:avLst/>
            </a:prstGeom>
            <a:noFill/>
            <a:ln/>
          </p:spPr>
          <p:txBody>
            <a:bodyPr wrap="square" lIns="0" tIns="0" rIns="0" bIns="0" rtlCol="0" anchor="t"/>
            <a:lstStyle/>
            <a:p>
              <a:pPr marL="0" indent="0">
                <a:lnSpc>
                  <a:spcPct val="105000"/>
                </a:lnSpc>
                <a:buNone/>
              </a:pPr>
              <a:r>
                <a:rPr lang="en-US" sz="1000" b="1" dirty="0">
                  <a:solidFill>
                    <a:srgbClr val="EAEFF6"/>
                  </a:solidFill>
                  <a:latin typeface="Arial" pitchFamily="34" charset="0"/>
                  <a:ea typeface="Arial" pitchFamily="34" charset="-122"/>
                  <a:cs typeface="Arial" pitchFamily="34" charset="-120"/>
                </a:rPr>
                <a:t>EXCLUSIVE CONFERENCE LUNCH SUPPORTER</a:t>
              </a:r>
              <a:endParaRPr lang="en-US" sz="1000" dirty="0"/>
            </a:p>
          </p:txBody>
        </p:sp>
        <p:sp>
          <p:nvSpPr>
            <p:cNvPr id="44" name="Text 27">
              <a:extLst>
                <a:ext uri="{FF2B5EF4-FFF2-40B4-BE49-F238E27FC236}">
                  <a16:creationId xmlns:a16="http://schemas.microsoft.com/office/drawing/2014/main" id="{0316454E-3864-8DF7-7D10-4E53A82545F0}"/>
                </a:ext>
              </a:extLst>
            </p:cNvPr>
            <p:cNvSpPr/>
            <p:nvPr/>
          </p:nvSpPr>
          <p:spPr>
            <a:xfrm>
              <a:off x="13526262" y="4321454"/>
              <a:ext cx="868680" cy="228600"/>
            </a:xfrm>
            <a:prstGeom prst="rect">
              <a:avLst/>
            </a:prstGeom>
            <a:noFill/>
            <a:ln/>
          </p:spPr>
          <p:txBody>
            <a:bodyPr wrap="square" lIns="0" tIns="0" rIns="0" bIns="0" rtlCol="0" anchor="t"/>
            <a:lstStyle/>
            <a:p>
              <a:pPr marL="0" indent="0" algn="r">
                <a:buNone/>
              </a:pPr>
              <a:r>
                <a:rPr lang="en-US" sz="1200" b="1" dirty="0">
                  <a:solidFill>
                    <a:srgbClr val="C8407F"/>
                  </a:solidFill>
                  <a:latin typeface="Arial" pitchFamily="34" charset="0"/>
                  <a:ea typeface="Arial" pitchFamily="34" charset="-122"/>
                  <a:cs typeface="Arial" pitchFamily="34" charset="-120"/>
                </a:rPr>
                <a:t>$7,000 *</a:t>
              </a:r>
              <a:endParaRPr lang="en-US" sz="1200" dirty="0"/>
            </a:p>
          </p:txBody>
        </p:sp>
        <p:sp>
          <p:nvSpPr>
            <p:cNvPr id="45" name="Text 28">
              <a:extLst>
                <a:ext uri="{FF2B5EF4-FFF2-40B4-BE49-F238E27FC236}">
                  <a16:creationId xmlns:a16="http://schemas.microsoft.com/office/drawing/2014/main" id="{C8990EDA-77CB-64A6-17FC-2558F2AE8468}"/>
                </a:ext>
              </a:extLst>
            </p:cNvPr>
            <p:cNvSpPr/>
            <p:nvPr/>
          </p:nvSpPr>
          <p:spPr>
            <a:xfrm>
              <a:off x="10431018" y="4714646"/>
              <a:ext cx="3963924" cy="914400"/>
            </a:xfrm>
            <a:prstGeom prst="rect">
              <a:avLst/>
            </a:prstGeom>
            <a:noFill/>
            <a:ln/>
          </p:spPr>
          <p:txBody>
            <a:bodyPr wrap="square" lIns="0" tIns="0" rIns="0" bIns="0" rtlCol="0" anchor="t"/>
            <a:lstStyle/>
            <a:p>
              <a:pPr marL="0" indent="0">
                <a:lnSpc>
                  <a:spcPct val="110000"/>
                </a:lnSpc>
                <a:buNone/>
              </a:pPr>
              <a:r>
                <a:rPr lang="en-US" sz="880" dirty="0">
                  <a:solidFill>
                    <a:srgbClr val="9DAAC0"/>
                  </a:solidFill>
                  <a:latin typeface="Arial" pitchFamily="34" charset="0"/>
                  <a:ea typeface="Arial" pitchFamily="34" charset="-122"/>
                  <a:cs typeface="Arial" pitchFamily="34" charset="-120"/>
                </a:rPr>
                <a:t>As an exclusive lunch banquet supporter, you can have the lunch during the </a:t>
              </a:r>
              <a:r>
                <a:rPr lang="en-US" sz="880" i="1" dirty="0">
                  <a:solidFill>
                    <a:srgbClr val="9DAAC0"/>
                  </a:solidFill>
                  <a:latin typeface="Arial" pitchFamily="34" charset="0"/>
                  <a:ea typeface="Arial" pitchFamily="34" charset="-122"/>
                  <a:cs typeface="Arial" pitchFamily="34" charset="-120"/>
                </a:rPr>
                <a:t>Cluster: The Practitioner’s Summit</a:t>
              </a:r>
              <a:r>
                <a:rPr lang="en-US" sz="880" dirty="0">
                  <a:solidFill>
                    <a:srgbClr val="9DAAC0"/>
                  </a:solidFill>
                  <a:latin typeface="Arial" pitchFamily="34" charset="0"/>
                  <a:ea typeface="Arial" pitchFamily="34" charset="-122"/>
                  <a:cs typeface="Arial" pitchFamily="34" charset="-120"/>
                </a:rPr>
                <a:t> branded with your organization. All programming, signage, and ticketing about the reception will include your branding. You will receive additional acknowledgment on the website, e-mails, and verbal acknowledgments of support. This is an exclusive opportunity that will be first-come, first-serve.</a:t>
              </a:r>
              <a:endParaRPr lang="en-US" sz="88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INDIVIDUAL ARRANGEMENTS</a:t>
            </a:r>
            <a:endParaRPr lang="en-US" sz="24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1249070"/>
            <a:ext cx="4974336" cy="3108960"/>
          </a:xfrm>
          <a:prstGeom prst="rect">
            <a:avLst/>
          </a:prstGeom>
          <a:noFill/>
          <a:ln/>
        </p:spPr>
        <p:txBody>
          <a:bodyPr wrap="square" lIns="0" tIns="0" rIns="0" bIns="0" rtlCol="0" anchor="t"/>
          <a:lstStyle/>
          <a:p>
            <a:pPr marL="0" indent="0">
              <a:lnSpc>
                <a:spcPct val="115000"/>
              </a:lnSpc>
              <a:spcAft>
                <a:spcPts val="200"/>
              </a:spcAft>
              <a:buNone/>
            </a:pPr>
            <a:r>
              <a:rPr lang="en-US" sz="1400" dirty="0">
                <a:solidFill>
                  <a:srgbClr val="9DAAC0"/>
                </a:solidFill>
                <a:latin typeface="Arial" pitchFamily="34" charset="0"/>
                <a:ea typeface="Arial" pitchFamily="34" charset="-122"/>
                <a:cs typeface="Arial" pitchFamily="34" charset="-120"/>
              </a:rPr>
              <a:t>In addition to our predefined sponsorship packages, we welcome individual arrangements to support the conference. This flexible approach allows you to contribute in a way that aligns uniquely with your goals and priorities, ensuring your support makes a personalized impact. Whether through bespoke sponsorship elements or customized engagement opportunities, we are here to collaborate and create a partnership that reflects your vision.</a:t>
            </a:r>
          </a:p>
          <a:p>
            <a:pPr marL="0" indent="0">
              <a:lnSpc>
                <a:spcPct val="115000"/>
              </a:lnSpc>
              <a:spcAft>
                <a:spcPts val="200"/>
              </a:spcAft>
              <a:buNone/>
            </a:pPr>
            <a:endParaRPr lang="en-US" sz="1100" dirty="0"/>
          </a:p>
          <a:p>
            <a:pPr marL="0" indent="0">
              <a:lnSpc>
                <a:spcPct val="115000"/>
              </a:lnSpc>
              <a:buNone/>
            </a:pPr>
            <a:r>
              <a:rPr lang="en-US" sz="1400" b="1" i="1" dirty="0">
                <a:solidFill>
                  <a:srgbClr val="E58AB4"/>
                </a:solidFill>
                <a:latin typeface="Arial" pitchFamily="34" charset="0"/>
                <a:ea typeface="Arial" pitchFamily="34" charset="-122"/>
                <a:cs typeface="Arial" pitchFamily="34" charset="-120"/>
              </a:rPr>
              <a:t>We are happy to discuss your ideas and collaborate to create a partnership that reflects your vision and objectives!</a:t>
            </a:r>
            <a:endParaRPr lang="en-US" sz="1400" dirty="0"/>
          </a:p>
        </p:txBody>
      </p:sp>
      <p:sp>
        <p:nvSpPr>
          <p:cNvPr id="10" name="Shape 8"/>
          <p:cNvSpPr/>
          <p:nvPr/>
        </p:nvSpPr>
        <p:spPr>
          <a:xfrm>
            <a:off x="557784" y="4540910"/>
            <a:ext cx="4974336" cy="777240"/>
          </a:xfrm>
          <a:prstGeom prst="roundRect">
            <a:avLst>
              <a:gd name="adj" fmla="val 9412"/>
            </a:avLst>
          </a:prstGeom>
          <a:solidFill>
            <a:srgbClr val="1D2838"/>
          </a:solidFill>
          <a:ln/>
        </p:spPr>
        <p:txBody>
          <a:bodyPr/>
          <a:lstStyle/>
          <a:p>
            <a:endParaRPr lang="en-US"/>
          </a:p>
        </p:txBody>
      </p:sp>
      <p:sp>
        <p:nvSpPr>
          <p:cNvPr id="11" name="Shape 9"/>
          <p:cNvSpPr/>
          <p:nvPr/>
        </p:nvSpPr>
        <p:spPr>
          <a:xfrm>
            <a:off x="557784" y="4586630"/>
            <a:ext cx="64008" cy="685800"/>
          </a:xfrm>
          <a:prstGeom prst="rect">
            <a:avLst/>
          </a:prstGeom>
          <a:solidFill>
            <a:srgbClr val="C8407F"/>
          </a:solidFill>
          <a:ln/>
        </p:spPr>
        <p:txBody>
          <a:bodyPr/>
          <a:lstStyle/>
          <a:p>
            <a:endParaRPr lang="en-US"/>
          </a:p>
        </p:txBody>
      </p:sp>
      <p:sp>
        <p:nvSpPr>
          <p:cNvPr id="12" name="Text 10"/>
          <p:cNvSpPr/>
          <p:nvPr/>
        </p:nvSpPr>
        <p:spPr>
          <a:xfrm>
            <a:off x="786384" y="4650638"/>
            <a:ext cx="4517136" cy="594360"/>
          </a:xfrm>
          <a:prstGeom prst="rect">
            <a:avLst/>
          </a:prstGeom>
          <a:noFill/>
          <a:ln/>
        </p:spPr>
        <p:txBody>
          <a:bodyPr wrap="square" lIns="0" tIns="0" rIns="0" bIns="0" rtlCol="0" anchor="ctr"/>
          <a:lstStyle/>
          <a:p>
            <a:pPr marL="0" indent="0">
              <a:spcAft>
                <a:spcPts val="300"/>
              </a:spcAft>
              <a:buNone/>
            </a:pPr>
            <a:r>
              <a:rPr lang="en-US" sz="1100" b="1" dirty="0">
                <a:solidFill>
                  <a:srgbClr val="EAEFF6"/>
                </a:solidFill>
                <a:latin typeface="Arial" pitchFamily="34" charset="0"/>
                <a:ea typeface="Arial" pitchFamily="34" charset="-122"/>
                <a:cs typeface="Arial" pitchFamily="34" charset="-120"/>
              </a:rPr>
              <a:t>Contact the Supporters Chairs</a:t>
            </a:r>
            <a:endParaRPr lang="en-US" sz="1100" dirty="0"/>
          </a:p>
          <a:p>
            <a:pPr marL="0" indent="0">
              <a:buNone/>
            </a:pPr>
            <a:r>
              <a:rPr lang="en-US" sz="1300" b="1" dirty="0">
                <a:solidFill>
                  <a:srgbClr val="E8762C"/>
                </a:solidFill>
                <a:latin typeface="Arial" pitchFamily="34" charset="0"/>
                <a:ea typeface="Arial" pitchFamily="34" charset="-122"/>
                <a:cs typeface="Arial" pitchFamily="34" charset="-120"/>
              </a:rPr>
              <a:t>supporters@ieeevis.org</a:t>
            </a:r>
            <a:endParaRPr lang="en-US" sz="1100" dirty="0"/>
          </a:p>
        </p:txBody>
      </p:sp>
      <p:grpSp>
        <p:nvGrpSpPr>
          <p:cNvPr id="30" name="Group 29">
            <a:extLst>
              <a:ext uri="{FF2B5EF4-FFF2-40B4-BE49-F238E27FC236}">
                <a16:creationId xmlns:a16="http://schemas.microsoft.com/office/drawing/2014/main" id="{AD297D4A-CA43-C778-716A-25EB0F6F9D3D}"/>
              </a:ext>
            </a:extLst>
          </p:cNvPr>
          <p:cNvGrpSpPr/>
          <p:nvPr/>
        </p:nvGrpSpPr>
        <p:grpSpPr>
          <a:xfrm>
            <a:off x="6927504" y="3125439"/>
            <a:ext cx="2119559" cy="2119559"/>
            <a:chOff x="7081845" y="3266968"/>
            <a:chExt cx="1527414" cy="1527414"/>
          </a:xfrm>
        </p:grpSpPr>
        <p:sp>
          <p:nvSpPr>
            <p:cNvPr id="13" name="Shape 11"/>
            <p:cNvSpPr/>
            <p:nvPr/>
          </p:nvSpPr>
          <p:spPr>
            <a:xfrm>
              <a:off x="7675839" y="3860963"/>
              <a:ext cx="339425" cy="339425"/>
            </a:xfrm>
            <a:prstGeom prst="ellipse">
              <a:avLst/>
            </a:prstGeom>
            <a:solidFill>
              <a:srgbClr val="E8762C"/>
            </a:solidFill>
            <a:ln/>
          </p:spPr>
          <p:txBody>
            <a:bodyPr/>
            <a:lstStyle/>
            <a:p>
              <a:endParaRPr lang="en-US"/>
            </a:p>
          </p:txBody>
        </p:sp>
        <p:sp>
          <p:nvSpPr>
            <p:cNvPr id="14" name="Shape 12"/>
            <p:cNvSpPr/>
            <p:nvPr/>
          </p:nvSpPr>
          <p:spPr>
            <a:xfrm>
              <a:off x="8146938" y="3925336"/>
              <a:ext cx="210678" cy="210678"/>
            </a:xfrm>
            <a:prstGeom prst="ellipse">
              <a:avLst/>
            </a:prstGeom>
            <a:solidFill>
              <a:srgbClr val="C8407F"/>
            </a:solidFill>
            <a:ln/>
          </p:spPr>
          <p:txBody>
            <a:bodyPr/>
            <a:lstStyle/>
            <a:p>
              <a:endParaRPr lang="en-US"/>
            </a:p>
          </p:txBody>
        </p:sp>
        <p:sp>
          <p:nvSpPr>
            <p:cNvPr id="15" name="Shape 13"/>
            <p:cNvSpPr/>
            <p:nvPr/>
          </p:nvSpPr>
          <p:spPr>
            <a:xfrm>
              <a:off x="8462955" y="3957523"/>
              <a:ext cx="146304" cy="146304"/>
            </a:xfrm>
            <a:prstGeom prst="ellipse">
              <a:avLst/>
            </a:prstGeom>
            <a:solidFill>
              <a:srgbClr val="E5A93D"/>
            </a:solidFill>
            <a:ln/>
          </p:spPr>
          <p:txBody>
            <a:bodyPr/>
            <a:lstStyle/>
            <a:p>
              <a:endParaRPr lang="en-US"/>
            </a:p>
          </p:txBody>
        </p:sp>
        <p:sp>
          <p:nvSpPr>
            <p:cNvPr id="16" name="Shape 14"/>
            <p:cNvSpPr/>
            <p:nvPr/>
          </p:nvSpPr>
          <p:spPr>
            <a:xfrm>
              <a:off x="8027811" y="4212934"/>
              <a:ext cx="210678" cy="210678"/>
            </a:xfrm>
            <a:prstGeom prst="ellipse">
              <a:avLst/>
            </a:prstGeom>
            <a:solidFill>
              <a:srgbClr val="E8762C"/>
            </a:solidFill>
            <a:ln/>
          </p:spPr>
          <p:txBody>
            <a:bodyPr/>
            <a:lstStyle/>
            <a:p>
              <a:endParaRPr lang="en-US"/>
            </a:p>
          </p:txBody>
        </p:sp>
        <p:sp>
          <p:nvSpPr>
            <p:cNvPr id="17" name="Shape 15"/>
            <p:cNvSpPr/>
            <p:nvPr/>
          </p:nvSpPr>
          <p:spPr>
            <a:xfrm>
              <a:off x="8260696" y="4445819"/>
              <a:ext cx="146304" cy="146304"/>
            </a:xfrm>
            <a:prstGeom prst="ellipse">
              <a:avLst/>
            </a:prstGeom>
            <a:solidFill>
              <a:srgbClr val="C8407F"/>
            </a:solidFill>
            <a:ln/>
          </p:spPr>
          <p:txBody>
            <a:bodyPr/>
            <a:lstStyle/>
            <a:p>
              <a:endParaRPr lang="en-US"/>
            </a:p>
          </p:txBody>
        </p:sp>
        <p:sp>
          <p:nvSpPr>
            <p:cNvPr id="18" name="Shape 16"/>
            <p:cNvSpPr/>
            <p:nvPr/>
          </p:nvSpPr>
          <p:spPr>
            <a:xfrm>
              <a:off x="7740213" y="4332061"/>
              <a:ext cx="210678" cy="210678"/>
            </a:xfrm>
            <a:prstGeom prst="ellipse">
              <a:avLst/>
            </a:prstGeom>
            <a:solidFill>
              <a:srgbClr val="E58AB4"/>
            </a:solidFill>
            <a:ln/>
          </p:spPr>
          <p:txBody>
            <a:bodyPr/>
            <a:lstStyle/>
            <a:p>
              <a:endParaRPr lang="en-US"/>
            </a:p>
          </p:txBody>
        </p:sp>
        <p:sp>
          <p:nvSpPr>
            <p:cNvPr id="19" name="Shape 17"/>
            <p:cNvSpPr/>
            <p:nvPr/>
          </p:nvSpPr>
          <p:spPr>
            <a:xfrm>
              <a:off x="7772400" y="4648078"/>
              <a:ext cx="146304" cy="146304"/>
            </a:xfrm>
            <a:prstGeom prst="ellipse">
              <a:avLst/>
            </a:prstGeom>
            <a:solidFill>
              <a:srgbClr val="E8762C"/>
            </a:solidFill>
            <a:ln/>
          </p:spPr>
          <p:txBody>
            <a:bodyPr/>
            <a:lstStyle/>
            <a:p>
              <a:endParaRPr lang="en-US"/>
            </a:p>
          </p:txBody>
        </p:sp>
        <p:sp>
          <p:nvSpPr>
            <p:cNvPr id="20" name="Shape 18"/>
            <p:cNvSpPr/>
            <p:nvPr/>
          </p:nvSpPr>
          <p:spPr>
            <a:xfrm>
              <a:off x="7452615" y="4212934"/>
              <a:ext cx="210678" cy="210678"/>
            </a:xfrm>
            <a:prstGeom prst="ellipse">
              <a:avLst/>
            </a:prstGeom>
            <a:solidFill>
              <a:srgbClr val="E5A93D"/>
            </a:solidFill>
            <a:ln/>
          </p:spPr>
          <p:txBody>
            <a:bodyPr/>
            <a:lstStyle/>
            <a:p>
              <a:endParaRPr lang="en-US"/>
            </a:p>
          </p:txBody>
        </p:sp>
        <p:sp>
          <p:nvSpPr>
            <p:cNvPr id="21" name="Shape 19"/>
            <p:cNvSpPr/>
            <p:nvPr/>
          </p:nvSpPr>
          <p:spPr>
            <a:xfrm>
              <a:off x="7284104" y="4445819"/>
              <a:ext cx="146304" cy="146304"/>
            </a:xfrm>
            <a:prstGeom prst="ellipse">
              <a:avLst/>
            </a:prstGeom>
            <a:solidFill>
              <a:srgbClr val="E58AB4"/>
            </a:solidFill>
            <a:ln/>
          </p:spPr>
          <p:txBody>
            <a:bodyPr/>
            <a:lstStyle/>
            <a:p>
              <a:endParaRPr lang="en-US"/>
            </a:p>
          </p:txBody>
        </p:sp>
        <p:sp>
          <p:nvSpPr>
            <p:cNvPr id="22" name="Shape 20"/>
            <p:cNvSpPr/>
            <p:nvPr/>
          </p:nvSpPr>
          <p:spPr>
            <a:xfrm>
              <a:off x="7333488" y="3925336"/>
              <a:ext cx="210678" cy="210678"/>
            </a:xfrm>
            <a:prstGeom prst="ellipse">
              <a:avLst/>
            </a:prstGeom>
            <a:solidFill>
              <a:srgbClr val="C8407F"/>
            </a:solidFill>
            <a:ln/>
          </p:spPr>
          <p:txBody>
            <a:bodyPr/>
            <a:lstStyle/>
            <a:p>
              <a:endParaRPr lang="en-US"/>
            </a:p>
          </p:txBody>
        </p:sp>
        <p:sp>
          <p:nvSpPr>
            <p:cNvPr id="23" name="Shape 21"/>
            <p:cNvSpPr/>
            <p:nvPr/>
          </p:nvSpPr>
          <p:spPr>
            <a:xfrm>
              <a:off x="7081845" y="3957523"/>
              <a:ext cx="146304" cy="146304"/>
            </a:xfrm>
            <a:prstGeom prst="ellipse">
              <a:avLst/>
            </a:prstGeom>
            <a:solidFill>
              <a:srgbClr val="E5A93D"/>
            </a:solidFill>
            <a:ln/>
          </p:spPr>
          <p:txBody>
            <a:bodyPr/>
            <a:lstStyle/>
            <a:p>
              <a:endParaRPr lang="en-US"/>
            </a:p>
          </p:txBody>
        </p:sp>
        <p:sp>
          <p:nvSpPr>
            <p:cNvPr id="24" name="Shape 22"/>
            <p:cNvSpPr/>
            <p:nvPr/>
          </p:nvSpPr>
          <p:spPr>
            <a:xfrm>
              <a:off x="7452615" y="3637738"/>
              <a:ext cx="210678" cy="210678"/>
            </a:xfrm>
            <a:prstGeom prst="ellipse">
              <a:avLst/>
            </a:prstGeom>
            <a:solidFill>
              <a:srgbClr val="E8762C"/>
            </a:solidFill>
            <a:ln/>
          </p:spPr>
          <p:txBody>
            <a:bodyPr/>
            <a:lstStyle/>
            <a:p>
              <a:endParaRPr lang="en-US"/>
            </a:p>
          </p:txBody>
        </p:sp>
        <p:sp>
          <p:nvSpPr>
            <p:cNvPr id="25" name="Shape 23"/>
            <p:cNvSpPr/>
            <p:nvPr/>
          </p:nvSpPr>
          <p:spPr>
            <a:xfrm>
              <a:off x="7284104" y="3469227"/>
              <a:ext cx="146304" cy="146304"/>
            </a:xfrm>
            <a:prstGeom prst="ellipse">
              <a:avLst/>
            </a:prstGeom>
            <a:solidFill>
              <a:srgbClr val="C8407F"/>
            </a:solidFill>
            <a:ln/>
          </p:spPr>
          <p:txBody>
            <a:bodyPr/>
            <a:lstStyle/>
            <a:p>
              <a:endParaRPr lang="en-US"/>
            </a:p>
          </p:txBody>
        </p:sp>
        <p:sp>
          <p:nvSpPr>
            <p:cNvPr id="26" name="Shape 24"/>
            <p:cNvSpPr/>
            <p:nvPr/>
          </p:nvSpPr>
          <p:spPr>
            <a:xfrm>
              <a:off x="7740213" y="3518611"/>
              <a:ext cx="210678" cy="210678"/>
            </a:xfrm>
            <a:prstGeom prst="ellipse">
              <a:avLst/>
            </a:prstGeom>
            <a:solidFill>
              <a:srgbClr val="E58AB4"/>
            </a:solidFill>
            <a:ln/>
          </p:spPr>
          <p:txBody>
            <a:bodyPr/>
            <a:lstStyle/>
            <a:p>
              <a:endParaRPr lang="en-US"/>
            </a:p>
          </p:txBody>
        </p:sp>
        <p:sp>
          <p:nvSpPr>
            <p:cNvPr id="27" name="Shape 25"/>
            <p:cNvSpPr/>
            <p:nvPr/>
          </p:nvSpPr>
          <p:spPr>
            <a:xfrm>
              <a:off x="7772400" y="3266968"/>
              <a:ext cx="146304" cy="146304"/>
            </a:xfrm>
            <a:prstGeom prst="ellipse">
              <a:avLst/>
            </a:prstGeom>
            <a:solidFill>
              <a:srgbClr val="E8762C"/>
            </a:solidFill>
            <a:ln/>
          </p:spPr>
          <p:txBody>
            <a:bodyPr/>
            <a:lstStyle/>
            <a:p>
              <a:endParaRPr lang="en-US"/>
            </a:p>
          </p:txBody>
        </p:sp>
        <p:sp>
          <p:nvSpPr>
            <p:cNvPr id="28" name="Shape 26"/>
            <p:cNvSpPr/>
            <p:nvPr/>
          </p:nvSpPr>
          <p:spPr>
            <a:xfrm>
              <a:off x="8027811" y="3637738"/>
              <a:ext cx="210678" cy="210678"/>
            </a:xfrm>
            <a:prstGeom prst="ellipse">
              <a:avLst/>
            </a:prstGeom>
            <a:solidFill>
              <a:srgbClr val="E5A93D"/>
            </a:solidFill>
            <a:ln/>
          </p:spPr>
          <p:txBody>
            <a:bodyPr/>
            <a:lstStyle/>
            <a:p>
              <a:endParaRPr lang="en-US"/>
            </a:p>
          </p:txBody>
        </p:sp>
        <p:sp>
          <p:nvSpPr>
            <p:cNvPr id="29" name="Shape 27"/>
            <p:cNvSpPr/>
            <p:nvPr/>
          </p:nvSpPr>
          <p:spPr>
            <a:xfrm>
              <a:off x="8260696" y="3469227"/>
              <a:ext cx="146304" cy="146304"/>
            </a:xfrm>
            <a:prstGeom prst="ellipse">
              <a:avLst/>
            </a:prstGeom>
            <a:solidFill>
              <a:srgbClr val="E58AB4"/>
            </a:solidFill>
            <a:ln/>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740664"/>
          </a:xfrm>
          <a:prstGeom prst="rect">
            <a:avLst/>
          </a:prstGeom>
          <a:solidFill>
            <a:srgbClr val="C8407F"/>
          </a:solidFill>
          <a:ln/>
        </p:spPr>
        <p:txBody>
          <a:bodyPr/>
          <a:lstStyle/>
          <a:p>
            <a:endParaRPr lang="en-US"/>
          </a:p>
        </p:txBody>
      </p:sp>
      <p:sp>
        <p:nvSpPr>
          <p:cNvPr id="3" name="Shape 1"/>
          <p:cNvSpPr/>
          <p:nvPr/>
        </p:nvSpPr>
        <p:spPr>
          <a:xfrm>
            <a:off x="0" y="740664"/>
            <a:ext cx="10058400" cy="51206"/>
          </a:xfrm>
          <a:prstGeom prst="rect">
            <a:avLst/>
          </a:prstGeom>
          <a:solidFill>
            <a:srgbClr val="E8762C"/>
          </a:solidFill>
          <a:ln/>
        </p:spPr>
        <p:txBody>
          <a:bodyPr/>
          <a:lstStyle/>
          <a:p>
            <a:endParaRPr lang="en-US"/>
          </a:p>
        </p:txBody>
      </p:sp>
      <p:sp>
        <p:nvSpPr>
          <p:cNvPr id="4" name="Text 2"/>
          <p:cNvSpPr/>
          <p:nvPr/>
        </p:nvSpPr>
        <p:spPr>
          <a:xfrm>
            <a:off x="557784" y="0"/>
            <a:ext cx="7936992" cy="740664"/>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Arial" pitchFamily="34" charset="0"/>
                <a:ea typeface="Arial" pitchFamily="34" charset="-122"/>
                <a:cs typeface="Arial" pitchFamily="34" charset="-120"/>
              </a:rPr>
              <a:t>INCLUSIVITY, DIVERSITY, &amp; ACCESSIBILITY DONATIONS</a:t>
            </a:r>
            <a:endParaRPr lang="en-US" sz="2200" dirty="0"/>
          </a:p>
        </p:txBody>
      </p:sp>
      <p:sp>
        <p:nvSpPr>
          <p:cNvPr id="5" name="Text 3"/>
          <p:cNvSpPr/>
          <p:nvPr/>
        </p:nvSpPr>
        <p:spPr>
          <a:xfrm>
            <a:off x="8631936" y="0"/>
            <a:ext cx="868680" cy="740664"/>
          </a:xfrm>
          <a:prstGeom prst="rect">
            <a:avLst/>
          </a:prstGeom>
          <a:noFill/>
          <a:ln/>
        </p:spPr>
        <p:txBody>
          <a:bodyPr wrap="square" lIns="0" tIns="0" rIns="0" bIns="0" rtlCol="0" anchor="ctr"/>
          <a:lstStyle/>
          <a:p>
            <a:pPr marL="0" indent="0" algn="r">
              <a:buNone/>
            </a:pPr>
            <a:r>
              <a:rPr lang="en-US" sz="1400" b="1" dirty="0">
                <a:solidFill>
                  <a:srgbClr val="F3C9DC"/>
                </a:solidFill>
                <a:latin typeface="Arial" pitchFamily="34" charset="0"/>
                <a:ea typeface="Arial" pitchFamily="34" charset="-122"/>
                <a:cs typeface="Arial" pitchFamily="34" charset="-120"/>
              </a:rPr>
              <a:t>VIS</a:t>
            </a:r>
            <a:r>
              <a:rPr lang="en-US" sz="1400" b="1" dirty="0">
                <a:solidFill>
                  <a:srgbClr val="FBD9B8"/>
                </a:solidFill>
                <a:latin typeface="Arial" pitchFamily="34" charset="0"/>
                <a:ea typeface="Arial" pitchFamily="34" charset="-122"/>
                <a:cs typeface="Arial" pitchFamily="34" charset="-120"/>
              </a:rPr>
              <a:t>2026</a:t>
            </a:r>
            <a:endParaRPr lang="en-US" sz="1400" dirty="0"/>
          </a:p>
        </p:txBody>
      </p:sp>
      <p:sp>
        <p:nvSpPr>
          <p:cNvPr id="6" name="Shape 4"/>
          <p:cNvSpPr/>
          <p:nvPr/>
        </p:nvSpPr>
        <p:spPr>
          <a:xfrm>
            <a:off x="557784" y="7340803"/>
            <a:ext cx="8942832" cy="0"/>
          </a:xfrm>
          <a:prstGeom prst="line">
            <a:avLst/>
          </a:prstGeom>
          <a:noFill/>
          <a:ln w="9525">
            <a:solidFill>
              <a:srgbClr val="38455E"/>
            </a:solidFill>
            <a:prstDash val="solid"/>
          </a:ln>
        </p:spPr>
        <p:txBody>
          <a:bodyPr/>
          <a:lstStyle/>
          <a:p>
            <a:endParaRPr lang="en-US"/>
          </a:p>
        </p:txBody>
      </p:sp>
      <p:sp>
        <p:nvSpPr>
          <p:cNvPr id="7" name="Text 5"/>
          <p:cNvSpPr/>
          <p:nvPr/>
        </p:nvSpPr>
        <p:spPr>
          <a:xfrm>
            <a:off x="557784" y="7370064"/>
            <a:ext cx="5669280" cy="256032"/>
          </a:xfrm>
          <a:prstGeom prst="rect">
            <a:avLst/>
          </a:prstGeom>
          <a:noFill/>
          <a:ln/>
        </p:spPr>
        <p:txBody>
          <a:bodyPr wrap="square" lIns="0" tIns="0" rIns="0" bIns="0" rtlCol="0" anchor="ctr"/>
          <a:lstStyle/>
          <a:p>
            <a:pPr marL="0" indent="0">
              <a:buNone/>
            </a:pPr>
            <a:r>
              <a:rPr lang="en-US" sz="850" dirty="0">
                <a:solidFill>
                  <a:srgbClr val="9DAAC0"/>
                </a:solidFill>
                <a:latin typeface="Arial" pitchFamily="34" charset="0"/>
                <a:ea typeface="Arial" pitchFamily="34" charset="-122"/>
                <a:cs typeface="Arial" pitchFamily="34" charset="-120"/>
              </a:rPr>
              <a:t>To participate, please contact the Supporters Chairs at supporters@ieeevis.org</a:t>
            </a:r>
            <a:endParaRPr lang="en-US" sz="850" dirty="0"/>
          </a:p>
        </p:txBody>
      </p:sp>
      <p:sp>
        <p:nvSpPr>
          <p:cNvPr id="8" name="Text 6"/>
          <p:cNvSpPr/>
          <p:nvPr/>
        </p:nvSpPr>
        <p:spPr>
          <a:xfrm>
            <a:off x="5660136" y="7370064"/>
            <a:ext cx="3840480" cy="256032"/>
          </a:xfrm>
          <a:prstGeom prst="rect">
            <a:avLst/>
          </a:prstGeom>
          <a:noFill/>
          <a:ln/>
        </p:spPr>
        <p:txBody>
          <a:bodyPr wrap="square" lIns="0" tIns="0" rIns="0" bIns="0" rtlCol="0" anchor="ctr"/>
          <a:lstStyle/>
          <a:p>
            <a:pPr marL="0" indent="0" algn="r">
              <a:buNone/>
            </a:pPr>
            <a:r>
              <a:rPr lang="en-US" sz="850" dirty="0">
                <a:solidFill>
                  <a:srgbClr val="9DAAC0"/>
                </a:solidFill>
                <a:latin typeface="Arial" pitchFamily="34" charset="0"/>
                <a:ea typeface="Arial" pitchFamily="34" charset="-122"/>
                <a:cs typeface="Arial" pitchFamily="34" charset="-120"/>
              </a:rPr>
              <a:t>IEEE VIS 2026  ·  Boston, MA  ·  November 9–13, 2026</a:t>
            </a:r>
            <a:endParaRPr lang="en-US" sz="850" dirty="0"/>
          </a:p>
        </p:txBody>
      </p:sp>
      <p:sp>
        <p:nvSpPr>
          <p:cNvPr id="9" name="Text 7"/>
          <p:cNvSpPr/>
          <p:nvPr/>
        </p:nvSpPr>
        <p:spPr>
          <a:xfrm>
            <a:off x="557784" y="993038"/>
            <a:ext cx="8942832" cy="1005840"/>
          </a:xfrm>
          <a:prstGeom prst="rect">
            <a:avLst/>
          </a:prstGeom>
          <a:noFill/>
          <a:ln/>
        </p:spPr>
        <p:txBody>
          <a:bodyPr wrap="square" lIns="0" tIns="0" rIns="0" bIns="0" rtlCol="0" anchor="t"/>
          <a:lstStyle/>
          <a:p>
            <a:pPr marL="0" indent="0">
              <a:lnSpc>
                <a:spcPct val="112000"/>
              </a:lnSpc>
              <a:spcAft>
                <a:spcPts val="600"/>
              </a:spcAft>
              <a:buNone/>
            </a:pPr>
            <a:r>
              <a:rPr lang="en-US" sz="1400" b="1" i="1" dirty="0">
                <a:solidFill>
                  <a:srgbClr val="E58AB4"/>
                </a:solidFill>
                <a:latin typeface="Arial" pitchFamily="34" charset="0"/>
                <a:ea typeface="Arial" pitchFamily="34" charset="-122"/>
                <a:cs typeface="Arial" pitchFamily="34" charset="-120"/>
              </a:rPr>
              <a:t>You can help support inclusivity and diversity at IEEE VIS.</a:t>
            </a:r>
            <a:endParaRPr lang="en-US" sz="1400" b="1" dirty="0"/>
          </a:p>
          <a:p>
            <a:pPr marL="0" indent="0">
              <a:lnSpc>
                <a:spcPct val="112000"/>
              </a:lnSpc>
              <a:buNone/>
            </a:pPr>
            <a:r>
              <a:rPr lang="en-US" sz="1200" dirty="0">
                <a:solidFill>
                  <a:srgbClr val="9DAAC0"/>
                </a:solidFill>
                <a:latin typeface="Arial" pitchFamily="34" charset="0"/>
                <a:ea typeface="Arial" pitchFamily="34" charset="-122"/>
                <a:cs typeface="Arial" pitchFamily="34" charset="-120"/>
              </a:rPr>
              <a:t>We are committed to making the conference more inclusive and diverse by providing scholarship support to underrepresented students and researchers, financial assistance to conference attendees who are parents, and providing technologies and support to those with additional needs. The scholarships and grants are open to all prospective VIS attendees, with priority given to those at the earliest stages of their careers.</a:t>
            </a:r>
            <a:endParaRPr lang="en-US" sz="1100" dirty="0"/>
          </a:p>
        </p:txBody>
      </p:sp>
      <p:sp>
        <p:nvSpPr>
          <p:cNvPr id="10" name="Shape 8"/>
          <p:cNvSpPr/>
          <p:nvPr/>
        </p:nvSpPr>
        <p:spPr>
          <a:xfrm>
            <a:off x="557784" y="2455570"/>
            <a:ext cx="4329684" cy="1737360"/>
          </a:xfrm>
          <a:prstGeom prst="roundRect">
            <a:avLst>
              <a:gd name="adj" fmla="val 4118"/>
            </a:avLst>
          </a:prstGeom>
          <a:solidFill>
            <a:srgbClr val="1D2838"/>
          </a:solidFill>
          <a:ln/>
        </p:spPr>
        <p:txBody>
          <a:bodyPr/>
          <a:lstStyle/>
          <a:p>
            <a:endParaRPr lang="en-US"/>
          </a:p>
        </p:txBody>
      </p:sp>
      <p:sp>
        <p:nvSpPr>
          <p:cNvPr id="11" name="Shape 9"/>
          <p:cNvSpPr/>
          <p:nvPr/>
        </p:nvSpPr>
        <p:spPr>
          <a:xfrm>
            <a:off x="557784" y="2501290"/>
            <a:ext cx="51206" cy="1737360"/>
          </a:xfrm>
          <a:prstGeom prst="rect">
            <a:avLst/>
          </a:prstGeom>
          <a:solidFill>
            <a:srgbClr val="C8407F"/>
          </a:solidFill>
          <a:ln/>
        </p:spPr>
        <p:txBody>
          <a:bodyPr/>
          <a:lstStyle/>
          <a:p>
            <a:endParaRPr lang="en-US"/>
          </a:p>
        </p:txBody>
      </p:sp>
      <p:sp>
        <p:nvSpPr>
          <p:cNvPr id="12" name="Text 10"/>
          <p:cNvSpPr/>
          <p:nvPr/>
        </p:nvSpPr>
        <p:spPr>
          <a:xfrm>
            <a:off x="740664" y="2547010"/>
            <a:ext cx="3963924" cy="274320"/>
          </a:xfrm>
          <a:prstGeom prst="rect">
            <a:avLst/>
          </a:prstGeom>
          <a:noFill/>
          <a:ln/>
        </p:spPr>
        <p:txBody>
          <a:bodyPr wrap="square" lIns="0" tIns="0" rIns="0" bIns="0" rtlCol="0" anchor="ctr"/>
          <a:lstStyle/>
          <a:p>
            <a:pPr marL="0" indent="0">
              <a:buNone/>
            </a:pPr>
            <a:r>
              <a:rPr lang="en-US" sz="1050" b="1" dirty="0">
                <a:solidFill>
                  <a:srgbClr val="EAEFF6"/>
                </a:solidFill>
                <a:latin typeface="Arial" pitchFamily="34" charset="0"/>
                <a:ea typeface="Arial" pitchFamily="34" charset="-122"/>
                <a:cs typeface="Arial" pitchFamily="34" charset="-120"/>
              </a:rPr>
              <a:t>Diversity Scholarships</a:t>
            </a:r>
            <a:endParaRPr lang="en-US" sz="1050" dirty="0"/>
          </a:p>
        </p:txBody>
      </p:sp>
      <p:sp>
        <p:nvSpPr>
          <p:cNvPr id="13" name="Text 11"/>
          <p:cNvSpPr/>
          <p:nvPr/>
        </p:nvSpPr>
        <p:spPr>
          <a:xfrm>
            <a:off x="740664" y="2857906"/>
            <a:ext cx="3963924" cy="105156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Diversity Scholarships support students and early career researchers from underrepresented groups to broaden participation. The Inclusivity and Diversity scholarship grants VIS attendees the ability to pay for travel and other costs incurred while attending the conference. Registration for diversity scholars is waived by the conference committee.</a:t>
            </a:r>
            <a:endParaRPr lang="en-US" sz="1100" dirty="0"/>
          </a:p>
        </p:txBody>
      </p:sp>
      <p:sp>
        <p:nvSpPr>
          <p:cNvPr id="14" name="Shape 12"/>
          <p:cNvSpPr/>
          <p:nvPr/>
        </p:nvSpPr>
        <p:spPr>
          <a:xfrm>
            <a:off x="5170932" y="2455570"/>
            <a:ext cx="4329684" cy="1737360"/>
          </a:xfrm>
          <a:prstGeom prst="roundRect">
            <a:avLst>
              <a:gd name="adj" fmla="val 4118"/>
            </a:avLst>
          </a:prstGeom>
          <a:solidFill>
            <a:srgbClr val="1D2838"/>
          </a:solidFill>
          <a:ln/>
        </p:spPr>
        <p:txBody>
          <a:bodyPr/>
          <a:lstStyle/>
          <a:p>
            <a:endParaRPr lang="en-US"/>
          </a:p>
        </p:txBody>
      </p:sp>
      <p:sp>
        <p:nvSpPr>
          <p:cNvPr id="15" name="Shape 13"/>
          <p:cNvSpPr/>
          <p:nvPr/>
        </p:nvSpPr>
        <p:spPr>
          <a:xfrm>
            <a:off x="5170932" y="2501290"/>
            <a:ext cx="51206" cy="1737360"/>
          </a:xfrm>
          <a:prstGeom prst="rect">
            <a:avLst/>
          </a:prstGeom>
          <a:solidFill>
            <a:srgbClr val="E8762C"/>
          </a:solidFill>
          <a:ln/>
        </p:spPr>
        <p:txBody>
          <a:bodyPr/>
          <a:lstStyle/>
          <a:p>
            <a:endParaRPr lang="en-US"/>
          </a:p>
        </p:txBody>
      </p:sp>
      <p:sp>
        <p:nvSpPr>
          <p:cNvPr id="16" name="Text 14"/>
          <p:cNvSpPr/>
          <p:nvPr/>
        </p:nvSpPr>
        <p:spPr>
          <a:xfrm>
            <a:off x="5353812" y="2547010"/>
            <a:ext cx="3963924" cy="274320"/>
          </a:xfrm>
          <a:prstGeom prst="rect">
            <a:avLst/>
          </a:prstGeom>
          <a:noFill/>
          <a:ln/>
        </p:spPr>
        <p:txBody>
          <a:bodyPr wrap="square" lIns="0" tIns="0" rIns="0" bIns="0" rtlCol="0" anchor="ctr"/>
          <a:lstStyle/>
          <a:p>
            <a:pPr marL="0" indent="0">
              <a:buNone/>
            </a:pPr>
            <a:r>
              <a:rPr lang="en-US" sz="1050" b="1" dirty="0">
                <a:solidFill>
                  <a:srgbClr val="EAEFF6"/>
                </a:solidFill>
                <a:latin typeface="Arial" pitchFamily="34" charset="0"/>
                <a:ea typeface="Arial" pitchFamily="34" charset="-122"/>
                <a:cs typeface="Arial" pitchFamily="34" charset="-120"/>
              </a:rPr>
              <a:t>Childcare Grants</a:t>
            </a:r>
            <a:endParaRPr lang="en-US" sz="1050" dirty="0"/>
          </a:p>
        </p:txBody>
      </p:sp>
      <p:sp>
        <p:nvSpPr>
          <p:cNvPr id="17" name="Text 15"/>
          <p:cNvSpPr/>
          <p:nvPr/>
        </p:nvSpPr>
        <p:spPr>
          <a:xfrm>
            <a:off x="5353812" y="2857906"/>
            <a:ext cx="3963924" cy="105156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Many researchers face the challenge of balancing a career and parenthood. The VIS conference believes that childcare costs should not hinder participation. The Inclusivity and Diversity program provides grants to VIS attendees to help offset childcare costs incurred while attending the VIS conference.</a:t>
            </a:r>
            <a:endParaRPr lang="en-US" sz="1100" dirty="0"/>
          </a:p>
        </p:txBody>
      </p:sp>
      <p:sp>
        <p:nvSpPr>
          <p:cNvPr id="18" name="Shape 16"/>
          <p:cNvSpPr/>
          <p:nvPr/>
        </p:nvSpPr>
        <p:spPr>
          <a:xfrm>
            <a:off x="557784" y="4503318"/>
            <a:ext cx="4329684" cy="1828800"/>
          </a:xfrm>
          <a:prstGeom prst="roundRect">
            <a:avLst>
              <a:gd name="adj" fmla="val 4118"/>
            </a:avLst>
          </a:prstGeom>
          <a:solidFill>
            <a:srgbClr val="1D2838"/>
          </a:solidFill>
          <a:ln/>
        </p:spPr>
        <p:txBody>
          <a:bodyPr/>
          <a:lstStyle/>
          <a:p>
            <a:endParaRPr lang="en-US"/>
          </a:p>
        </p:txBody>
      </p:sp>
      <p:sp>
        <p:nvSpPr>
          <p:cNvPr id="19" name="Shape 17"/>
          <p:cNvSpPr/>
          <p:nvPr/>
        </p:nvSpPr>
        <p:spPr>
          <a:xfrm>
            <a:off x="557784" y="4549038"/>
            <a:ext cx="51206" cy="1737360"/>
          </a:xfrm>
          <a:prstGeom prst="rect">
            <a:avLst/>
          </a:prstGeom>
          <a:solidFill>
            <a:srgbClr val="E5A93D"/>
          </a:solidFill>
          <a:ln/>
        </p:spPr>
        <p:txBody>
          <a:bodyPr/>
          <a:lstStyle/>
          <a:p>
            <a:endParaRPr lang="en-US"/>
          </a:p>
        </p:txBody>
      </p:sp>
      <p:sp>
        <p:nvSpPr>
          <p:cNvPr id="20" name="Text 18"/>
          <p:cNvSpPr/>
          <p:nvPr/>
        </p:nvSpPr>
        <p:spPr>
          <a:xfrm>
            <a:off x="740664" y="4594758"/>
            <a:ext cx="3963924" cy="274320"/>
          </a:xfrm>
          <a:prstGeom prst="rect">
            <a:avLst/>
          </a:prstGeom>
          <a:noFill/>
          <a:ln/>
        </p:spPr>
        <p:txBody>
          <a:bodyPr wrap="square" lIns="0" tIns="0" rIns="0" bIns="0" rtlCol="0" anchor="ctr"/>
          <a:lstStyle/>
          <a:p>
            <a:pPr marL="0" indent="0">
              <a:buNone/>
            </a:pPr>
            <a:r>
              <a:rPr lang="en-US" sz="1050" b="1" dirty="0">
                <a:solidFill>
                  <a:srgbClr val="EAEFF6"/>
                </a:solidFill>
                <a:latin typeface="Arial" pitchFamily="34" charset="0"/>
                <a:ea typeface="Arial" pitchFamily="34" charset="-122"/>
                <a:cs typeface="Arial" pitchFamily="34" charset="-120"/>
              </a:rPr>
              <a:t>Accessibility Support</a:t>
            </a:r>
            <a:endParaRPr lang="en-US" sz="1050" dirty="0"/>
          </a:p>
        </p:txBody>
      </p:sp>
      <p:sp>
        <p:nvSpPr>
          <p:cNvPr id="21" name="Text 19"/>
          <p:cNvSpPr/>
          <p:nvPr/>
        </p:nvSpPr>
        <p:spPr>
          <a:xfrm>
            <a:off x="740664" y="4905654"/>
            <a:ext cx="3963924" cy="105156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Accessibility donations assist members of our community with additional needs in providing support services and technologies, such as hearing loops and captioning.</a:t>
            </a:r>
            <a:endParaRPr lang="en-US" sz="1100" dirty="0"/>
          </a:p>
        </p:txBody>
      </p:sp>
      <p:sp>
        <p:nvSpPr>
          <p:cNvPr id="22" name="Shape 20"/>
          <p:cNvSpPr/>
          <p:nvPr/>
        </p:nvSpPr>
        <p:spPr>
          <a:xfrm>
            <a:off x="5170932" y="4503318"/>
            <a:ext cx="4329684" cy="1737360"/>
          </a:xfrm>
          <a:prstGeom prst="roundRect">
            <a:avLst>
              <a:gd name="adj" fmla="val 4118"/>
            </a:avLst>
          </a:prstGeom>
          <a:solidFill>
            <a:srgbClr val="1D2838"/>
          </a:solidFill>
          <a:ln/>
        </p:spPr>
        <p:txBody>
          <a:bodyPr/>
          <a:lstStyle/>
          <a:p>
            <a:endParaRPr lang="en-US"/>
          </a:p>
        </p:txBody>
      </p:sp>
      <p:sp>
        <p:nvSpPr>
          <p:cNvPr id="23" name="Shape 21"/>
          <p:cNvSpPr/>
          <p:nvPr/>
        </p:nvSpPr>
        <p:spPr>
          <a:xfrm>
            <a:off x="5170932" y="4549038"/>
            <a:ext cx="51206" cy="1737360"/>
          </a:xfrm>
          <a:prstGeom prst="rect">
            <a:avLst/>
          </a:prstGeom>
          <a:solidFill>
            <a:srgbClr val="6FA8DC"/>
          </a:solidFill>
          <a:ln/>
        </p:spPr>
        <p:txBody>
          <a:bodyPr/>
          <a:lstStyle/>
          <a:p>
            <a:endParaRPr lang="en-US"/>
          </a:p>
        </p:txBody>
      </p:sp>
      <p:sp>
        <p:nvSpPr>
          <p:cNvPr id="24" name="Text 22"/>
          <p:cNvSpPr/>
          <p:nvPr/>
        </p:nvSpPr>
        <p:spPr>
          <a:xfrm>
            <a:off x="5353812" y="4594758"/>
            <a:ext cx="3963924" cy="274320"/>
          </a:xfrm>
          <a:prstGeom prst="rect">
            <a:avLst/>
          </a:prstGeom>
          <a:noFill/>
          <a:ln/>
        </p:spPr>
        <p:txBody>
          <a:bodyPr wrap="square" lIns="0" tIns="0" rIns="0" bIns="0" rtlCol="0" anchor="ctr"/>
          <a:lstStyle/>
          <a:p>
            <a:pPr marL="0" indent="0">
              <a:buNone/>
            </a:pPr>
            <a:r>
              <a:rPr lang="en-US" sz="1050" b="1" dirty="0">
                <a:solidFill>
                  <a:srgbClr val="EAEFF6"/>
                </a:solidFill>
                <a:latin typeface="Arial" pitchFamily="34" charset="0"/>
                <a:ea typeface="Arial" pitchFamily="34" charset="-122"/>
                <a:cs typeface="Arial" pitchFamily="34" charset="-120"/>
              </a:rPr>
              <a:t>Donate to Support Inclusivity and Diversity at VIS</a:t>
            </a:r>
            <a:endParaRPr lang="en-US" sz="1050" dirty="0"/>
          </a:p>
        </p:txBody>
      </p:sp>
      <p:sp>
        <p:nvSpPr>
          <p:cNvPr id="25" name="Text 23"/>
          <p:cNvSpPr/>
          <p:nvPr/>
        </p:nvSpPr>
        <p:spPr>
          <a:xfrm>
            <a:off x="5353812" y="4905654"/>
            <a:ext cx="3963924" cy="1051560"/>
          </a:xfrm>
          <a:prstGeom prst="rect">
            <a:avLst/>
          </a:prstGeom>
          <a:noFill/>
          <a:ln/>
        </p:spPr>
        <p:txBody>
          <a:bodyPr wrap="square" lIns="0" tIns="0" rIns="0" bIns="0" rtlCol="0" anchor="t"/>
          <a:lstStyle/>
          <a:p>
            <a:pPr marL="0" indent="0">
              <a:lnSpc>
                <a:spcPct val="112000"/>
              </a:lnSpc>
              <a:buNone/>
            </a:pPr>
            <a:r>
              <a:rPr lang="en-US" sz="1100" dirty="0">
                <a:solidFill>
                  <a:srgbClr val="9DAAC0"/>
                </a:solidFill>
                <a:latin typeface="Arial" pitchFamily="34" charset="0"/>
                <a:ea typeface="Arial" pitchFamily="34" charset="-122"/>
                <a:cs typeface="Arial" pitchFamily="34" charset="-120"/>
              </a:rPr>
              <a:t>You can directly donate to support inclusivity, diversity, and accessibility. All donors will be listed on the website. However, these donations are separate from other support levels and don’t confer any additional benefits. For logistical reasons, we ask for donations starting at $300.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C29"/>
        </a:solidFill>
        <a:effectLst/>
      </p:bgPr>
    </p:bg>
    <p:spTree>
      <p:nvGrpSpPr>
        <p:cNvPr id="1" name=""/>
        <p:cNvGrpSpPr/>
        <p:nvPr/>
      </p:nvGrpSpPr>
      <p:grpSpPr>
        <a:xfrm>
          <a:off x="0" y="0"/>
          <a:ext cx="0" cy="0"/>
          <a:chOff x="0" y="0"/>
          <a:chExt cx="0" cy="0"/>
        </a:xfrm>
      </p:grpSpPr>
      <p:sp>
        <p:nvSpPr>
          <p:cNvPr id="2" name="Shape 0"/>
          <p:cNvSpPr/>
          <p:nvPr/>
        </p:nvSpPr>
        <p:spPr>
          <a:xfrm>
            <a:off x="0" y="0"/>
            <a:ext cx="10058400" cy="100584"/>
          </a:xfrm>
          <a:prstGeom prst="rect">
            <a:avLst/>
          </a:prstGeom>
          <a:solidFill>
            <a:srgbClr val="C8407F"/>
          </a:solidFill>
          <a:ln/>
        </p:spPr>
        <p:txBody>
          <a:bodyPr/>
          <a:lstStyle/>
          <a:p>
            <a:endParaRPr lang="en-US"/>
          </a:p>
        </p:txBody>
      </p:sp>
      <p:sp>
        <p:nvSpPr>
          <p:cNvPr id="3" name="Shape 1"/>
          <p:cNvSpPr/>
          <p:nvPr/>
        </p:nvSpPr>
        <p:spPr>
          <a:xfrm>
            <a:off x="0" y="100584"/>
            <a:ext cx="10058400" cy="38405"/>
          </a:xfrm>
          <a:prstGeom prst="rect">
            <a:avLst/>
          </a:prstGeom>
          <a:solidFill>
            <a:srgbClr val="E8762C"/>
          </a:solidFill>
          <a:ln/>
        </p:spPr>
        <p:txBody>
          <a:bodyPr/>
          <a:lstStyle/>
          <a:p>
            <a:endParaRPr lang="en-US"/>
          </a:p>
        </p:txBody>
      </p:sp>
      <p:sp>
        <p:nvSpPr>
          <p:cNvPr id="4" name="Shape 2"/>
          <p:cNvSpPr/>
          <p:nvPr/>
        </p:nvSpPr>
        <p:spPr>
          <a:xfrm>
            <a:off x="768462" y="869046"/>
            <a:ext cx="127284" cy="127284"/>
          </a:xfrm>
          <a:prstGeom prst="ellipse">
            <a:avLst/>
          </a:prstGeom>
          <a:solidFill>
            <a:srgbClr val="E8762C"/>
          </a:solidFill>
          <a:ln/>
        </p:spPr>
        <p:txBody>
          <a:bodyPr/>
          <a:lstStyle/>
          <a:p>
            <a:endParaRPr lang="en-US"/>
          </a:p>
        </p:txBody>
      </p:sp>
      <p:sp>
        <p:nvSpPr>
          <p:cNvPr id="5" name="Shape 3"/>
          <p:cNvSpPr/>
          <p:nvPr/>
        </p:nvSpPr>
        <p:spPr>
          <a:xfrm>
            <a:off x="945124" y="893186"/>
            <a:ext cx="79004" cy="79004"/>
          </a:xfrm>
          <a:prstGeom prst="ellipse">
            <a:avLst/>
          </a:prstGeom>
          <a:solidFill>
            <a:srgbClr val="C8407F"/>
          </a:solidFill>
          <a:ln/>
        </p:spPr>
        <p:txBody>
          <a:bodyPr/>
          <a:lstStyle/>
          <a:p>
            <a:endParaRPr lang="en-US"/>
          </a:p>
        </p:txBody>
      </p:sp>
      <p:sp>
        <p:nvSpPr>
          <p:cNvPr id="6" name="Shape 4"/>
          <p:cNvSpPr/>
          <p:nvPr/>
        </p:nvSpPr>
        <p:spPr>
          <a:xfrm>
            <a:off x="1063630" y="905256"/>
            <a:ext cx="54864" cy="54864"/>
          </a:xfrm>
          <a:prstGeom prst="ellipse">
            <a:avLst/>
          </a:prstGeom>
          <a:solidFill>
            <a:srgbClr val="E5A93D"/>
          </a:solidFill>
          <a:ln/>
        </p:spPr>
        <p:txBody>
          <a:bodyPr/>
          <a:lstStyle/>
          <a:p>
            <a:endParaRPr lang="en-US"/>
          </a:p>
        </p:txBody>
      </p:sp>
      <p:sp>
        <p:nvSpPr>
          <p:cNvPr id="7" name="Shape 5"/>
          <p:cNvSpPr/>
          <p:nvPr/>
        </p:nvSpPr>
        <p:spPr>
          <a:xfrm>
            <a:off x="900451" y="1001035"/>
            <a:ext cx="79004" cy="79004"/>
          </a:xfrm>
          <a:prstGeom prst="ellipse">
            <a:avLst/>
          </a:prstGeom>
          <a:solidFill>
            <a:srgbClr val="E8762C"/>
          </a:solidFill>
          <a:ln/>
        </p:spPr>
        <p:txBody>
          <a:bodyPr/>
          <a:lstStyle/>
          <a:p>
            <a:endParaRPr lang="en-US"/>
          </a:p>
        </p:txBody>
      </p:sp>
      <p:sp>
        <p:nvSpPr>
          <p:cNvPr id="8" name="Shape 6"/>
          <p:cNvSpPr/>
          <p:nvPr/>
        </p:nvSpPr>
        <p:spPr>
          <a:xfrm>
            <a:off x="987783" y="1088367"/>
            <a:ext cx="54864" cy="54864"/>
          </a:xfrm>
          <a:prstGeom prst="ellipse">
            <a:avLst/>
          </a:prstGeom>
          <a:solidFill>
            <a:srgbClr val="C8407F"/>
          </a:solidFill>
          <a:ln/>
        </p:spPr>
        <p:txBody>
          <a:bodyPr/>
          <a:lstStyle/>
          <a:p>
            <a:endParaRPr lang="en-US"/>
          </a:p>
        </p:txBody>
      </p:sp>
      <p:sp>
        <p:nvSpPr>
          <p:cNvPr id="9" name="Shape 7"/>
          <p:cNvSpPr/>
          <p:nvPr/>
        </p:nvSpPr>
        <p:spPr>
          <a:xfrm>
            <a:off x="792602" y="1045708"/>
            <a:ext cx="79004" cy="79004"/>
          </a:xfrm>
          <a:prstGeom prst="ellipse">
            <a:avLst/>
          </a:prstGeom>
          <a:solidFill>
            <a:srgbClr val="E58AB4"/>
          </a:solidFill>
          <a:ln/>
        </p:spPr>
        <p:txBody>
          <a:bodyPr/>
          <a:lstStyle/>
          <a:p>
            <a:endParaRPr lang="en-US"/>
          </a:p>
        </p:txBody>
      </p:sp>
      <p:sp>
        <p:nvSpPr>
          <p:cNvPr id="10" name="Shape 8"/>
          <p:cNvSpPr/>
          <p:nvPr/>
        </p:nvSpPr>
        <p:spPr>
          <a:xfrm>
            <a:off x="804672" y="1164214"/>
            <a:ext cx="54864" cy="54864"/>
          </a:xfrm>
          <a:prstGeom prst="ellipse">
            <a:avLst/>
          </a:prstGeom>
          <a:solidFill>
            <a:srgbClr val="E8762C"/>
          </a:solidFill>
          <a:ln/>
        </p:spPr>
        <p:txBody>
          <a:bodyPr/>
          <a:lstStyle/>
          <a:p>
            <a:endParaRPr lang="en-US"/>
          </a:p>
        </p:txBody>
      </p:sp>
      <p:sp>
        <p:nvSpPr>
          <p:cNvPr id="11" name="Shape 9"/>
          <p:cNvSpPr/>
          <p:nvPr/>
        </p:nvSpPr>
        <p:spPr>
          <a:xfrm>
            <a:off x="684753" y="1001035"/>
            <a:ext cx="79004" cy="79004"/>
          </a:xfrm>
          <a:prstGeom prst="ellipse">
            <a:avLst/>
          </a:prstGeom>
          <a:solidFill>
            <a:srgbClr val="E5A93D"/>
          </a:solidFill>
          <a:ln/>
        </p:spPr>
        <p:txBody>
          <a:bodyPr/>
          <a:lstStyle/>
          <a:p>
            <a:endParaRPr lang="en-US"/>
          </a:p>
        </p:txBody>
      </p:sp>
      <p:sp>
        <p:nvSpPr>
          <p:cNvPr id="12" name="Shape 10"/>
          <p:cNvSpPr/>
          <p:nvPr/>
        </p:nvSpPr>
        <p:spPr>
          <a:xfrm>
            <a:off x="621561" y="1088367"/>
            <a:ext cx="54864" cy="54864"/>
          </a:xfrm>
          <a:prstGeom prst="ellipse">
            <a:avLst/>
          </a:prstGeom>
          <a:solidFill>
            <a:srgbClr val="E58AB4"/>
          </a:solidFill>
          <a:ln/>
        </p:spPr>
        <p:txBody>
          <a:bodyPr/>
          <a:lstStyle/>
          <a:p>
            <a:endParaRPr lang="en-US"/>
          </a:p>
        </p:txBody>
      </p:sp>
      <p:sp>
        <p:nvSpPr>
          <p:cNvPr id="13" name="Shape 11"/>
          <p:cNvSpPr/>
          <p:nvPr/>
        </p:nvSpPr>
        <p:spPr>
          <a:xfrm>
            <a:off x="640080" y="893186"/>
            <a:ext cx="79004" cy="79004"/>
          </a:xfrm>
          <a:prstGeom prst="ellipse">
            <a:avLst/>
          </a:prstGeom>
          <a:solidFill>
            <a:srgbClr val="C8407F"/>
          </a:solidFill>
          <a:ln/>
        </p:spPr>
        <p:txBody>
          <a:bodyPr/>
          <a:lstStyle/>
          <a:p>
            <a:endParaRPr lang="en-US"/>
          </a:p>
        </p:txBody>
      </p:sp>
      <p:sp>
        <p:nvSpPr>
          <p:cNvPr id="14" name="Shape 12"/>
          <p:cNvSpPr/>
          <p:nvPr/>
        </p:nvSpPr>
        <p:spPr>
          <a:xfrm>
            <a:off x="545714" y="905256"/>
            <a:ext cx="54864" cy="54864"/>
          </a:xfrm>
          <a:prstGeom prst="ellipse">
            <a:avLst/>
          </a:prstGeom>
          <a:solidFill>
            <a:srgbClr val="E5A93D"/>
          </a:solidFill>
          <a:ln/>
        </p:spPr>
        <p:txBody>
          <a:bodyPr/>
          <a:lstStyle/>
          <a:p>
            <a:endParaRPr lang="en-US"/>
          </a:p>
        </p:txBody>
      </p:sp>
      <p:sp>
        <p:nvSpPr>
          <p:cNvPr id="15" name="Shape 13"/>
          <p:cNvSpPr/>
          <p:nvPr/>
        </p:nvSpPr>
        <p:spPr>
          <a:xfrm>
            <a:off x="684753" y="785337"/>
            <a:ext cx="79004" cy="79004"/>
          </a:xfrm>
          <a:prstGeom prst="ellipse">
            <a:avLst/>
          </a:prstGeom>
          <a:solidFill>
            <a:srgbClr val="E8762C"/>
          </a:solidFill>
          <a:ln/>
        </p:spPr>
        <p:txBody>
          <a:bodyPr/>
          <a:lstStyle/>
          <a:p>
            <a:endParaRPr lang="en-US"/>
          </a:p>
        </p:txBody>
      </p:sp>
      <p:sp>
        <p:nvSpPr>
          <p:cNvPr id="16" name="Shape 14"/>
          <p:cNvSpPr/>
          <p:nvPr/>
        </p:nvSpPr>
        <p:spPr>
          <a:xfrm>
            <a:off x="621561" y="722145"/>
            <a:ext cx="54864" cy="54864"/>
          </a:xfrm>
          <a:prstGeom prst="ellipse">
            <a:avLst/>
          </a:prstGeom>
          <a:solidFill>
            <a:srgbClr val="C8407F"/>
          </a:solidFill>
          <a:ln/>
        </p:spPr>
        <p:txBody>
          <a:bodyPr/>
          <a:lstStyle/>
          <a:p>
            <a:endParaRPr lang="en-US"/>
          </a:p>
        </p:txBody>
      </p:sp>
      <p:sp>
        <p:nvSpPr>
          <p:cNvPr id="17" name="Shape 15"/>
          <p:cNvSpPr/>
          <p:nvPr/>
        </p:nvSpPr>
        <p:spPr>
          <a:xfrm>
            <a:off x="792602" y="740664"/>
            <a:ext cx="79004" cy="79004"/>
          </a:xfrm>
          <a:prstGeom prst="ellipse">
            <a:avLst/>
          </a:prstGeom>
          <a:solidFill>
            <a:srgbClr val="E58AB4"/>
          </a:solidFill>
          <a:ln/>
        </p:spPr>
        <p:txBody>
          <a:bodyPr/>
          <a:lstStyle/>
          <a:p>
            <a:endParaRPr lang="en-US"/>
          </a:p>
        </p:txBody>
      </p:sp>
      <p:sp>
        <p:nvSpPr>
          <p:cNvPr id="18" name="Shape 16"/>
          <p:cNvSpPr/>
          <p:nvPr/>
        </p:nvSpPr>
        <p:spPr>
          <a:xfrm>
            <a:off x="804672" y="646298"/>
            <a:ext cx="54864" cy="54864"/>
          </a:xfrm>
          <a:prstGeom prst="ellipse">
            <a:avLst/>
          </a:prstGeom>
          <a:solidFill>
            <a:srgbClr val="E8762C"/>
          </a:solidFill>
          <a:ln/>
        </p:spPr>
        <p:txBody>
          <a:bodyPr/>
          <a:lstStyle/>
          <a:p>
            <a:endParaRPr lang="en-US"/>
          </a:p>
        </p:txBody>
      </p:sp>
      <p:sp>
        <p:nvSpPr>
          <p:cNvPr id="19" name="Shape 17"/>
          <p:cNvSpPr/>
          <p:nvPr/>
        </p:nvSpPr>
        <p:spPr>
          <a:xfrm>
            <a:off x="900451" y="785337"/>
            <a:ext cx="79004" cy="79004"/>
          </a:xfrm>
          <a:prstGeom prst="ellipse">
            <a:avLst/>
          </a:prstGeom>
          <a:solidFill>
            <a:srgbClr val="E5A93D"/>
          </a:solidFill>
          <a:ln/>
        </p:spPr>
        <p:txBody>
          <a:bodyPr/>
          <a:lstStyle/>
          <a:p>
            <a:endParaRPr lang="en-US"/>
          </a:p>
        </p:txBody>
      </p:sp>
      <p:sp>
        <p:nvSpPr>
          <p:cNvPr id="20" name="Shape 18"/>
          <p:cNvSpPr/>
          <p:nvPr/>
        </p:nvSpPr>
        <p:spPr>
          <a:xfrm>
            <a:off x="987783" y="722145"/>
            <a:ext cx="54864" cy="54864"/>
          </a:xfrm>
          <a:prstGeom prst="ellipse">
            <a:avLst/>
          </a:prstGeom>
          <a:solidFill>
            <a:srgbClr val="E58AB4"/>
          </a:solidFill>
          <a:ln/>
        </p:spPr>
        <p:txBody>
          <a:bodyPr/>
          <a:lstStyle/>
          <a:p>
            <a:endParaRPr lang="en-US"/>
          </a:p>
        </p:txBody>
      </p:sp>
      <p:sp>
        <p:nvSpPr>
          <p:cNvPr id="21" name="Text 19"/>
          <p:cNvSpPr/>
          <p:nvPr/>
        </p:nvSpPr>
        <p:spPr>
          <a:xfrm>
            <a:off x="1216152" y="640080"/>
            <a:ext cx="2651760" cy="594360"/>
          </a:xfrm>
          <a:prstGeom prst="rect">
            <a:avLst/>
          </a:prstGeom>
          <a:noFill/>
          <a:ln/>
        </p:spPr>
        <p:txBody>
          <a:bodyPr wrap="square" lIns="0" tIns="0" rIns="0" bIns="0" rtlCol="0" anchor="ctr"/>
          <a:lstStyle/>
          <a:p>
            <a:pPr marL="0" indent="0">
              <a:buNone/>
            </a:pPr>
            <a:r>
              <a:rPr lang="en-US" sz="3600" b="1" dirty="0">
                <a:solidFill>
                  <a:srgbClr val="C8407F"/>
                </a:solidFill>
                <a:latin typeface="Arial" pitchFamily="34" charset="0"/>
                <a:ea typeface="Arial" pitchFamily="34" charset="-122"/>
                <a:cs typeface="Arial" pitchFamily="34" charset="-120"/>
              </a:rPr>
              <a:t>VIS</a:t>
            </a:r>
            <a:r>
              <a:rPr lang="en-US" sz="3600" b="1" dirty="0">
                <a:solidFill>
                  <a:srgbClr val="E8762C"/>
                </a:solidFill>
                <a:latin typeface="Arial" pitchFamily="34" charset="0"/>
                <a:ea typeface="Arial" pitchFamily="34" charset="-122"/>
                <a:cs typeface="Arial" pitchFamily="34" charset="-120"/>
              </a:rPr>
              <a:t>2026</a:t>
            </a:r>
            <a:endParaRPr lang="en-US" sz="3600" dirty="0"/>
          </a:p>
        </p:txBody>
      </p:sp>
      <p:sp>
        <p:nvSpPr>
          <p:cNvPr id="22" name="Text 20"/>
          <p:cNvSpPr/>
          <p:nvPr/>
        </p:nvSpPr>
        <p:spPr>
          <a:xfrm>
            <a:off x="557784" y="1600200"/>
            <a:ext cx="6236208" cy="777240"/>
          </a:xfrm>
          <a:prstGeom prst="rect">
            <a:avLst/>
          </a:prstGeom>
          <a:noFill/>
          <a:ln/>
        </p:spPr>
        <p:txBody>
          <a:bodyPr wrap="square" lIns="0" tIns="0" rIns="0" bIns="0" rtlCol="0" anchor="t"/>
          <a:lstStyle/>
          <a:p>
            <a:pPr marL="0" indent="0">
              <a:lnSpc>
                <a:spcPct val="115000"/>
              </a:lnSpc>
              <a:buNone/>
            </a:pPr>
            <a:r>
              <a:rPr lang="en-US" sz="1400" dirty="0">
                <a:solidFill>
                  <a:srgbClr val="9DAAC0"/>
                </a:solidFill>
                <a:latin typeface="Arial" pitchFamily="34" charset="0"/>
                <a:ea typeface="Arial" pitchFamily="34" charset="-122"/>
                <a:cs typeface="Arial" pitchFamily="34" charset="-120"/>
              </a:rPr>
              <a:t>VIS 2026 attracts decision-makers looking for the next generation of products, solutions, networking, and advanced-industry perspectives. Put yourself in the position to meet them by supporting IEEE VIS 2026!</a:t>
            </a:r>
            <a:endParaRPr lang="en-US" sz="1400" dirty="0"/>
          </a:p>
        </p:txBody>
      </p:sp>
      <p:sp>
        <p:nvSpPr>
          <p:cNvPr id="23" name="Text 21"/>
          <p:cNvSpPr/>
          <p:nvPr/>
        </p:nvSpPr>
        <p:spPr>
          <a:xfrm>
            <a:off x="557784" y="2499360"/>
            <a:ext cx="4114800" cy="274320"/>
          </a:xfrm>
          <a:prstGeom prst="rect">
            <a:avLst/>
          </a:prstGeom>
          <a:noFill/>
          <a:ln/>
        </p:spPr>
        <p:txBody>
          <a:bodyPr wrap="square" lIns="0" tIns="0" rIns="0" bIns="0" rtlCol="0" anchor="ctr"/>
          <a:lstStyle/>
          <a:p>
            <a:pPr marL="0" indent="0">
              <a:buNone/>
            </a:pPr>
            <a:r>
              <a:rPr lang="en-US" sz="1400" b="1" dirty="0">
                <a:solidFill>
                  <a:srgbClr val="E8762C"/>
                </a:solidFill>
                <a:latin typeface="Arial" pitchFamily="34" charset="0"/>
                <a:ea typeface="Arial" pitchFamily="34" charset="-122"/>
                <a:cs typeface="Arial" pitchFamily="34" charset="-120"/>
              </a:rPr>
              <a:t>Secure your sponsorship today!</a:t>
            </a:r>
            <a:endParaRPr lang="en-US" sz="1400" dirty="0"/>
          </a:p>
        </p:txBody>
      </p:sp>
      <p:sp>
        <p:nvSpPr>
          <p:cNvPr id="24" name="Shape 22"/>
          <p:cNvSpPr/>
          <p:nvPr/>
        </p:nvSpPr>
        <p:spPr>
          <a:xfrm>
            <a:off x="557784" y="3086100"/>
            <a:ext cx="4320540" cy="1828800"/>
          </a:xfrm>
          <a:prstGeom prst="roundRect">
            <a:avLst>
              <a:gd name="adj" fmla="val 4000"/>
            </a:avLst>
          </a:prstGeom>
          <a:solidFill>
            <a:srgbClr val="1D2838"/>
          </a:solidFill>
          <a:ln/>
        </p:spPr>
        <p:txBody>
          <a:bodyPr/>
          <a:lstStyle/>
          <a:p>
            <a:endParaRPr lang="en-US"/>
          </a:p>
        </p:txBody>
      </p:sp>
      <p:sp>
        <p:nvSpPr>
          <p:cNvPr id="25" name="Shape 23"/>
          <p:cNvSpPr/>
          <p:nvPr/>
        </p:nvSpPr>
        <p:spPr>
          <a:xfrm>
            <a:off x="557784" y="3140964"/>
            <a:ext cx="64008" cy="1719072"/>
          </a:xfrm>
          <a:prstGeom prst="rect">
            <a:avLst/>
          </a:prstGeom>
          <a:solidFill>
            <a:srgbClr val="C8407F"/>
          </a:solidFill>
          <a:ln/>
        </p:spPr>
        <p:txBody>
          <a:bodyPr/>
          <a:lstStyle/>
          <a:p>
            <a:endParaRPr lang="en-US"/>
          </a:p>
        </p:txBody>
      </p:sp>
      <p:sp>
        <p:nvSpPr>
          <p:cNvPr id="26" name="Text 24"/>
          <p:cNvSpPr/>
          <p:nvPr/>
        </p:nvSpPr>
        <p:spPr>
          <a:xfrm>
            <a:off x="786384" y="3232404"/>
            <a:ext cx="3863340" cy="1536192"/>
          </a:xfrm>
          <a:prstGeom prst="rect">
            <a:avLst/>
          </a:prstGeom>
          <a:noFill/>
          <a:ln/>
        </p:spPr>
        <p:txBody>
          <a:bodyPr wrap="square" lIns="0" tIns="0" rIns="0" bIns="0" rtlCol="0" anchor="t"/>
          <a:lstStyle/>
          <a:p>
            <a:pPr marL="0" indent="0">
              <a:lnSpc>
                <a:spcPct val="110000"/>
              </a:lnSpc>
              <a:spcAft>
                <a:spcPts val="800"/>
              </a:spcAft>
              <a:buNone/>
            </a:pPr>
            <a:r>
              <a:rPr lang="en-US" sz="1200" b="1" dirty="0">
                <a:solidFill>
                  <a:srgbClr val="EAEFF6"/>
                </a:solidFill>
                <a:latin typeface="Arial" pitchFamily="34" charset="0"/>
                <a:ea typeface="Arial" pitchFamily="34" charset="-122"/>
                <a:cs typeface="Arial" pitchFamily="34" charset="-120"/>
              </a:rPr>
              <a:t>IEEE VIS Supporters Chairs</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Fred Hohman, </a:t>
            </a:r>
            <a:r>
              <a:rPr lang="en-US" sz="1000" dirty="0">
                <a:solidFill>
                  <a:srgbClr val="9DAAC0"/>
                </a:solidFill>
                <a:latin typeface="Arial" pitchFamily="34" charset="0"/>
                <a:ea typeface="Arial" pitchFamily="34" charset="-122"/>
                <a:cs typeface="Arial" pitchFamily="34" charset="-120"/>
              </a:rPr>
              <a:t>Apple</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Kanit Wongsuphasawat, </a:t>
            </a:r>
            <a:r>
              <a:rPr lang="en-US" sz="1000" dirty="0">
                <a:solidFill>
                  <a:srgbClr val="9DAAC0"/>
                </a:solidFill>
                <a:latin typeface="Arial" pitchFamily="34" charset="0"/>
                <a:ea typeface="Arial" pitchFamily="34" charset="-122"/>
                <a:cs typeface="Arial" pitchFamily="34" charset="-120"/>
              </a:rPr>
              <a:t>Databricks</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Lisa Avila, </a:t>
            </a:r>
            <a:r>
              <a:rPr lang="en-US" sz="1000" dirty="0">
                <a:solidFill>
                  <a:srgbClr val="9DAAC0"/>
                </a:solidFill>
                <a:latin typeface="Arial" pitchFamily="34" charset="0"/>
                <a:ea typeface="Arial" pitchFamily="34" charset="-122"/>
                <a:cs typeface="Arial" pitchFamily="34" charset="-120"/>
              </a:rPr>
              <a:t>Kitware</a:t>
            </a:r>
            <a:endParaRPr lang="en-US" sz="1200" dirty="0"/>
          </a:p>
          <a:p>
            <a:pPr marL="0" indent="0">
              <a:lnSpc>
                <a:spcPct val="110000"/>
              </a:lnSpc>
              <a:spcBef>
                <a:spcPts val="600"/>
              </a:spcBef>
              <a:buNone/>
            </a:pPr>
            <a:r>
              <a:rPr lang="en-US" sz="1050" b="1" dirty="0">
                <a:solidFill>
                  <a:srgbClr val="E8762C"/>
                </a:solidFill>
                <a:latin typeface="Arial" pitchFamily="34" charset="0"/>
                <a:ea typeface="Arial" pitchFamily="34" charset="-122"/>
                <a:cs typeface="Arial" pitchFamily="34" charset="-120"/>
              </a:rPr>
              <a:t>supporters@ieeevis.org</a:t>
            </a:r>
            <a:endParaRPr lang="en-US" sz="1200" dirty="0"/>
          </a:p>
        </p:txBody>
      </p:sp>
      <p:sp>
        <p:nvSpPr>
          <p:cNvPr id="27" name="Shape 25"/>
          <p:cNvSpPr/>
          <p:nvPr/>
        </p:nvSpPr>
        <p:spPr>
          <a:xfrm>
            <a:off x="5180076" y="3086100"/>
            <a:ext cx="4320540" cy="1828800"/>
          </a:xfrm>
          <a:prstGeom prst="roundRect">
            <a:avLst>
              <a:gd name="adj" fmla="val 3478"/>
            </a:avLst>
          </a:prstGeom>
          <a:solidFill>
            <a:srgbClr val="1D2838"/>
          </a:solidFill>
          <a:ln/>
        </p:spPr>
        <p:txBody>
          <a:bodyPr/>
          <a:lstStyle/>
          <a:p>
            <a:endParaRPr lang="en-US"/>
          </a:p>
        </p:txBody>
      </p:sp>
      <p:sp>
        <p:nvSpPr>
          <p:cNvPr id="28" name="Shape 26"/>
          <p:cNvSpPr/>
          <p:nvPr/>
        </p:nvSpPr>
        <p:spPr>
          <a:xfrm>
            <a:off x="5180076" y="3140964"/>
            <a:ext cx="64008" cy="1719072"/>
          </a:xfrm>
          <a:prstGeom prst="rect">
            <a:avLst/>
          </a:prstGeom>
          <a:solidFill>
            <a:srgbClr val="C8407F"/>
          </a:solidFill>
          <a:ln/>
        </p:spPr>
        <p:txBody>
          <a:bodyPr/>
          <a:lstStyle/>
          <a:p>
            <a:endParaRPr lang="en-US"/>
          </a:p>
        </p:txBody>
      </p:sp>
      <p:sp>
        <p:nvSpPr>
          <p:cNvPr id="29" name="Text 27"/>
          <p:cNvSpPr/>
          <p:nvPr/>
        </p:nvSpPr>
        <p:spPr>
          <a:xfrm>
            <a:off x="5408676" y="3232404"/>
            <a:ext cx="3863340" cy="1810512"/>
          </a:xfrm>
          <a:prstGeom prst="rect">
            <a:avLst/>
          </a:prstGeom>
          <a:noFill/>
          <a:ln/>
        </p:spPr>
        <p:txBody>
          <a:bodyPr wrap="square" lIns="0" tIns="0" rIns="0" bIns="0" rtlCol="0" anchor="t"/>
          <a:lstStyle/>
          <a:p>
            <a:pPr marL="0" indent="0">
              <a:lnSpc>
                <a:spcPct val="110000"/>
              </a:lnSpc>
              <a:spcAft>
                <a:spcPts val="800"/>
              </a:spcAft>
              <a:buNone/>
            </a:pPr>
            <a:r>
              <a:rPr lang="en-US" sz="1200" b="1" dirty="0">
                <a:solidFill>
                  <a:srgbClr val="EAEFF6"/>
                </a:solidFill>
                <a:latin typeface="Arial" pitchFamily="34" charset="0"/>
                <a:ea typeface="Arial" pitchFamily="34" charset="-122"/>
                <a:cs typeface="Arial" pitchFamily="34" charset="-120"/>
              </a:rPr>
              <a:t>IEEE VIS General Chairs</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Arvind Satyanarayan, </a:t>
            </a:r>
            <a:r>
              <a:rPr lang="en-US" sz="1000" dirty="0">
                <a:solidFill>
                  <a:srgbClr val="9DAAC0"/>
                </a:solidFill>
                <a:latin typeface="Arial" pitchFamily="34" charset="0"/>
                <a:ea typeface="Arial" pitchFamily="34" charset="-122"/>
                <a:cs typeface="Arial" pitchFamily="34" charset="-120"/>
              </a:rPr>
              <a:t>Massachusetts Institute of Technology</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Lace Padilla, </a:t>
            </a:r>
            <a:r>
              <a:rPr lang="en-US" sz="1000" dirty="0">
                <a:solidFill>
                  <a:srgbClr val="9DAAC0"/>
                </a:solidFill>
                <a:latin typeface="Arial" pitchFamily="34" charset="0"/>
                <a:ea typeface="Arial" pitchFamily="34" charset="-122"/>
                <a:cs typeface="Arial" pitchFamily="34" charset="-120"/>
              </a:rPr>
              <a:t>Northeastern University</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Hendrik Strobelt, </a:t>
            </a:r>
            <a:r>
              <a:rPr lang="en-US" sz="1000" dirty="0">
                <a:solidFill>
                  <a:srgbClr val="9DAAC0"/>
                </a:solidFill>
                <a:latin typeface="Arial" pitchFamily="34" charset="0"/>
                <a:ea typeface="Arial" pitchFamily="34" charset="-122"/>
                <a:cs typeface="Arial" pitchFamily="34" charset="-120"/>
              </a:rPr>
              <a:t>IBM Research</a:t>
            </a:r>
            <a:endParaRPr lang="en-US" sz="1200" dirty="0"/>
          </a:p>
          <a:p>
            <a:pPr marL="0" indent="0">
              <a:lnSpc>
                <a:spcPct val="110000"/>
              </a:lnSpc>
              <a:buNone/>
            </a:pPr>
            <a:r>
              <a:rPr lang="en-US" sz="1000" dirty="0">
                <a:solidFill>
                  <a:srgbClr val="EAEFF6"/>
                </a:solidFill>
                <a:latin typeface="Arial" pitchFamily="34" charset="0"/>
                <a:ea typeface="Arial" pitchFamily="34" charset="-122"/>
                <a:cs typeface="Arial" pitchFamily="34" charset="-120"/>
              </a:rPr>
              <a:t>Lane Harrison, </a:t>
            </a:r>
            <a:r>
              <a:rPr lang="en-US" sz="1000" dirty="0">
                <a:solidFill>
                  <a:srgbClr val="9DAAC0"/>
                </a:solidFill>
                <a:latin typeface="Arial" pitchFamily="34" charset="0"/>
                <a:ea typeface="Arial" pitchFamily="34" charset="-122"/>
                <a:cs typeface="Arial" pitchFamily="34" charset="-120"/>
              </a:rPr>
              <a:t>Worcester Polytechnic Institute</a:t>
            </a:r>
            <a:endParaRPr lang="en-US" sz="1200" dirty="0"/>
          </a:p>
          <a:p>
            <a:pPr marL="0" indent="0">
              <a:lnSpc>
                <a:spcPct val="110000"/>
              </a:lnSpc>
              <a:spcBef>
                <a:spcPts val="600"/>
              </a:spcBef>
              <a:buNone/>
            </a:pPr>
            <a:r>
              <a:rPr lang="en-US" sz="1050" b="1" dirty="0">
                <a:solidFill>
                  <a:srgbClr val="E8762C"/>
                </a:solidFill>
                <a:latin typeface="Arial" pitchFamily="34" charset="0"/>
                <a:ea typeface="Arial" pitchFamily="34" charset="-122"/>
                <a:cs typeface="Arial" pitchFamily="34" charset="-120"/>
              </a:rPr>
              <a:t>general_chair@ieeevis.org</a:t>
            </a:r>
            <a:endParaRPr lang="en-US" sz="1200" dirty="0"/>
          </a:p>
        </p:txBody>
      </p:sp>
      <p:sp>
        <p:nvSpPr>
          <p:cNvPr id="30" name="Text 28"/>
          <p:cNvSpPr/>
          <p:nvPr/>
        </p:nvSpPr>
        <p:spPr>
          <a:xfrm>
            <a:off x="557784" y="6812280"/>
            <a:ext cx="2743200" cy="274320"/>
          </a:xfrm>
          <a:prstGeom prst="rect">
            <a:avLst/>
          </a:prstGeom>
          <a:noFill/>
          <a:ln/>
        </p:spPr>
        <p:txBody>
          <a:bodyPr wrap="square" lIns="0" tIns="0" rIns="0" bIns="0" rtlCol="0" anchor="ctr"/>
          <a:lstStyle/>
          <a:p>
            <a:pPr marL="0" indent="0">
              <a:buNone/>
            </a:pPr>
            <a:r>
              <a:rPr lang="en-US" sz="1200" b="1" dirty="0">
                <a:solidFill>
                  <a:srgbClr val="EAEFF6"/>
                </a:solidFill>
                <a:latin typeface="Arial" pitchFamily="34" charset="0"/>
                <a:ea typeface="Arial" pitchFamily="34" charset="-122"/>
                <a:cs typeface="Arial" pitchFamily="34" charset="-120"/>
              </a:rPr>
              <a:t>www.ieeevis.org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2527</Words>
  <Application>Microsoft Macintosh PowerPoint</Application>
  <PresentationFormat>Custom</PresentationFormat>
  <Paragraphs>261</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IEEE VIS 2026 Supporter Prospectus</dc:title>
  <dc:subject>PptxGenJS Presentation</dc:subject>
  <dc:creator>IEEE VIS 2026</dc:creator>
  <cp:lastModifiedBy>Schwabish, Jonathan</cp:lastModifiedBy>
  <cp:revision>3</cp:revision>
  <dcterms:created xsi:type="dcterms:W3CDTF">2026-07-03T15:20:40Z</dcterms:created>
  <dcterms:modified xsi:type="dcterms:W3CDTF">2026-07-03T16:23:44Z</dcterms:modified>
</cp:coreProperties>
</file>